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912"/>
        </a:solidFill>
        <a:effectLst/>
      </p:bgPr>
    </p:bg>
    <p:spTree>
      <p:nvGrpSpPr>
        <p:cNvPr id="1" name=""/>
        <p:cNvGrpSpPr/>
        <p:nvPr/>
      </p:nvGrpSpPr>
      <p:grpSpPr/>
      <p:sp>
        <p:nvSpPr>
          <p:cNvPr id="2" name="TextBox 1"/>
          <p:cNvSpPr txBox="1"/>
          <p:nvPr/>
        </p:nvSpPr>
        <p:spPr>
          <a:xfrm>
            <a:off x="11094415" y="6492240"/>
            <a:ext cx="914400" cy="274320"/>
          </a:xfrm>
          <a:prstGeom prst="rect">
            <a:avLst/>
          </a:prstGeom>
          <a:noFill/>
        </p:spPr>
        <p:txBody>
          <a:bodyPr wrap="square">
            <a:spAutoFit/>
          </a:bodyPr>
          <a:lstStyle/>
          <a:p>
            <a:pPr algn="r"/>
            <a:r>
              <a:rPr sz="1100" b="0" i="0">
                <a:solidFill>
                  <a:srgbClr val="C8C8D8"/>
                </a:solidFill>
                <a:latin typeface="Calibri"/>
              </a:rPr>
              <a:t>1 / 5</a:t>
            </a:r>
          </a:p>
        </p:txBody>
      </p:sp>
      <p:sp>
        <p:nvSpPr>
          <p:cNvPr id="3" name="Rectangle 2"/>
          <p:cNvSpPr/>
          <p:nvPr/>
        </p:nvSpPr>
        <p:spPr>
          <a:xfrm>
            <a:off x="0" y="0"/>
            <a:ext cx="164592" cy="6858000"/>
          </a:xfrm>
          <a:prstGeom prst="rect">
            <a:avLst/>
          </a:prstGeom>
          <a:solidFill>
            <a:srgbClr val="A04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7315200" cy="640080"/>
          </a:xfrm>
          <a:prstGeom prst="rect">
            <a:avLst/>
          </a:prstGeom>
          <a:noFill/>
        </p:spPr>
        <p:txBody>
          <a:bodyPr wrap="square">
            <a:spAutoFit/>
          </a:bodyPr>
          <a:lstStyle/>
          <a:p>
            <a:pPr algn="l"/>
            <a:r>
              <a:rPr sz="3000" b="1" i="0">
                <a:solidFill>
                  <a:srgbClr val="FFFFFF"/>
                </a:solidFill>
                <a:latin typeface="Calibri"/>
              </a:rPr>
              <a:t>LIGHT-DRIVEN JANUS PARTICLE SWARMS</a:t>
            </a:r>
          </a:p>
        </p:txBody>
      </p:sp>
      <p:sp>
        <p:nvSpPr>
          <p:cNvPr id="5" name="TextBox 4"/>
          <p:cNvSpPr txBox="1"/>
          <p:nvPr/>
        </p:nvSpPr>
        <p:spPr>
          <a:xfrm>
            <a:off x="365760" y="868680"/>
            <a:ext cx="7315200" cy="411480"/>
          </a:xfrm>
          <a:prstGeom prst="rect">
            <a:avLst/>
          </a:prstGeom>
          <a:noFill/>
        </p:spPr>
        <p:txBody>
          <a:bodyPr wrap="square">
            <a:spAutoFit/>
          </a:bodyPr>
          <a:lstStyle/>
          <a:p>
            <a:pPr algn="l"/>
            <a:r>
              <a:rPr sz="1700" b="0" i="1">
                <a:solidFill>
                  <a:srgbClr val="00D4FF"/>
                </a:solidFill>
                <a:latin typeface="Calibri"/>
              </a:rPr>
              <a:t>What are interesting patterns &amp; dynamics?</a:t>
            </a:r>
          </a:p>
        </p:txBody>
      </p:sp>
      <p:sp>
        <p:nvSpPr>
          <p:cNvPr id="6" name="Rectangle 5"/>
          <p:cNvSpPr/>
          <p:nvPr/>
        </p:nvSpPr>
        <p:spPr>
          <a:xfrm>
            <a:off x="365760" y="1325880"/>
            <a:ext cx="11430000" cy="38100"/>
          </a:xfrm>
          <a:prstGeom prst="rect">
            <a:avLst/>
          </a:prstGeom>
          <a:solidFill>
            <a:srgbClr val="A04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0040" y="1463040"/>
            <a:ext cx="5394960" cy="5074920"/>
          </a:xfrm>
          <a:prstGeom prst="roundRect">
            <a:avLst/>
          </a:prstGeom>
          <a:solidFill>
            <a:srgbClr val="16162A"/>
          </a:solidFill>
          <a:ln w="19050">
            <a:solidFill>
              <a:srgbClr val="A04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mo_snapshot.png"/>
          <p:cNvPicPr>
            <a:picLocks noChangeAspect="1"/>
          </p:cNvPicPr>
          <p:nvPr/>
        </p:nvPicPr>
        <p:blipFill>
          <a:blip r:embed="rId2"/>
          <a:stretch>
            <a:fillRect/>
          </a:stretch>
        </p:blipFill>
        <p:spPr>
          <a:xfrm>
            <a:off x="411480" y="1554480"/>
            <a:ext cx="5212080" cy="4892040"/>
          </a:xfrm>
          <a:prstGeom prst="rect">
            <a:avLst/>
          </a:prstGeom>
        </p:spPr>
      </p:pic>
      <p:sp>
        <p:nvSpPr>
          <p:cNvPr id="9" name="Rounded Rectangle 8"/>
          <p:cNvSpPr/>
          <p:nvPr/>
        </p:nvSpPr>
        <p:spPr>
          <a:xfrm>
            <a:off x="5989320" y="1463040"/>
            <a:ext cx="5897880" cy="5074920"/>
          </a:xfrm>
          <a:prstGeom prst="roundRect">
            <a:avLst/>
          </a:prstGeom>
          <a:solidFill>
            <a:srgbClr val="16162A"/>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200" y="1572768"/>
            <a:ext cx="5486400" cy="457200"/>
          </a:xfrm>
          <a:prstGeom prst="rect">
            <a:avLst/>
          </a:prstGeom>
          <a:noFill/>
        </p:spPr>
        <p:txBody>
          <a:bodyPr wrap="square">
            <a:spAutoFit/>
          </a:bodyPr>
          <a:lstStyle/>
          <a:p>
            <a:pPr algn="l"/>
            <a:r>
              <a:rPr sz="1700" b="1" i="0">
                <a:solidFill>
                  <a:srgbClr val="00D4FF"/>
                </a:solidFill>
                <a:latin typeface="Calibri"/>
              </a:rPr>
              <a:t>🔬  Key Observations</a:t>
            </a:r>
          </a:p>
        </p:txBody>
      </p:sp>
      <p:sp>
        <p:nvSpPr>
          <p:cNvPr id="11" name="Rectangle 10"/>
          <p:cNvSpPr/>
          <p:nvPr/>
        </p:nvSpPr>
        <p:spPr>
          <a:xfrm>
            <a:off x="6172200" y="2029968"/>
            <a:ext cx="5486400" cy="254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84831"/>
            <a:ext cx="5577840" cy="4297680"/>
          </a:xfrm>
          <a:prstGeom prst="rect">
            <a:avLst/>
          </a:prstGeom>
          <a:noFill/>
        </p:spPr>
        <p:txBody>
          <a:bodyPr wrap="square">
            <a:spAutoFit/>
          </a:bodyPr>
          <a:lstStyle/>
          <a:p>
            <a:pPr algn="l">
              <a:spcAft>
                <a:spcPts val="200"/>
              </a:spcAft>
            </a:pPr>
            <a:r>
              <a:rPr sz="1500" b="1" i="0">
                <a:solidFill>
                  <a:srgbClr val="FFFFFF"/>
                </a:solidFill>
                <a:latin typeface="Calibri"/>
              </a:rPr>
              <a:t>⚡  Self-Propulsion via Photophoresis</a:t>
            </a:r>
          </a:p>
          <a:p>
            <a:pPr algn="l">
              <a:spcAft>
                <a:spcPts val="200"/>
              </a:spcAft>
            </a:pPr>
            <a:r>
              <a:rPr sz="1300" b="0" i="1">
                <a:solidFill>
                  <a:srgbClr val="C8C8D8"/>
                </a:solidFill>
                <a:latin typeface="Calibri"/>
              </a:rPr>
              <a:t>    Metal cap absorbs light → asymmetric heating → thrust</a:t>
            </a:r>
          </a:p>
          <a:p>
            <a:pPr algn="l">
              <a:spcAft>
                <a:spcPts val="200"/>
              </a:spcAft>
            </a:pPr>
            <a:r>
              <a:rPr sz="800" b="0" i="0">
                <a:solidFill>
                  <a:srgbClr val="FFFFFF"/>
                </a:solidFill>
                <a:latin typeface="Calibri"/>
              </a:rPr>
              <a:t/>
            </a:r>
          </a:p>
          <a:p>
            <a:pPr algn="l">
              <a:spcAft>
                <a:spcPts val="200"/>
              </a:spcAft>
            </a:pPr>
            <a:r>
              <a:rPr sz="1500" b="1" i="0">
                <a:solidFill>
                  <a:srgbClr val="FFFFFF"/>
                </a:solidFill>
                <a:latin typeface="Calibri"/>
              </a:rPr>
              <a:t>🌀  Collective Flocking (Vicsek-like)</a:t>
            </a:r>
          </a:p>
          <a:p>
            <a:pPr algn="l">
              <a:spcAft>
                <a:spcPts val="200"/>
              </a:spcAft>
            </a:pPr>
            <a:r>
              <a:rPr sz="1300" b="0" i="1">
                <a:solidFill>
                  <a:srgbClr val="C8C8D8"/>
                </a:solidFill>
                <a:latin typeface="Calibri"/>
              </a:rPr>
              <a:t>    Thermal radiation couples neighbors: local alignment torques emerge spontaneously</a:t>
            </a:r>
          </a:p>
          <a:p>
            <a:pPr algn="l">
              <a:spcAft>
                <a:spcPts val="200"/>
              </a:spcAft>
            </a:pPr>
            <a:r>
              <a:rPr sz="800" b="0" i="0">
                <a:solidFill>
                  <a:srgbClr val="FFFFFF"/>
                </a:solidFill>
                <a:latin typeface="Calibri"/>
              </a:rPr>
              <a:t/>
            </a:r>
          </a:p>
          <a:p>
            <a:pPr algn="l">
              <a:spcAft>
                <a:spcPts val="200"/>
              </a:spcAft>
            </a:pPr>
            <a:r>
              <a:rPr sz="1500" b="1" i="0">
                <a:solidFill>
                  <a:srgbClr val="FFFFFF"/>
                </a:solidFill>
                <a:latin typeface="Calibri"/>
              </a:rPr>
              <a:t>🔆  Speed Modulation by Local Light</a:t>
            </a:r>
          </a:p>
          <a:p>
            <a:pPr algn="l">
              <a:spcAft>
                <a:spcPts val="200"/>
              </a:spcAft>
            </a:pPr>
            <a:r>
              <a:rPr sz="1300" b="0" i="1">
                <a:solidFill>
                  <a:srgbClr val="C8C8D8"/>
                </a:solidFill>
                <a:latin typeface="Calibri"/>
              </a:rPr>
              <a:t>    v₀(i) = v_max · min(1, I_local / I_ref)  →  bright = fast, shadow = stalled</a:t>
            </a:r>
          </a:p>
          <a:p>
            <a:pPr algn="l">
              <a:spcAft>
                <a:spcPts val="200"/>
              </a:spcAft>
            </a:pPr>
            <a:r>
              <a:rPr sz="800" b="0" i="0">
                <a:solidFill>
                  <a:srgbClr val="FFFFFF"/>
                </a:solidFill>
                <a:latin typeface="Calibri"/>
              </a:rPr>
              <a:t/>
            </a:r>
          </a:p>
          <a:p>
            <a:pPr algn="l">
              <a:spcAft>
                <a:spcPts val="200"/>
              </a:spcAft>
            </a:pPr>
            <a:r>
              <a:rPr sz="1500" b="1" i="0">
                <a:solidFill>
                  <a:srgbClr val="FFFFFF"/>
                </a:solidFill>
                <a:latin typeface="Calibri"/>
              </a:rPr>
              <a:t>🎯  Emergent Target Seeking (Phototaxis)</a:t>
            </a:r>
          </a:p>
          <a:p>
            <a:pPr algn="l">
              <a:spcAft>
                <a:spcPts val="200"/>
              </a:spcAft>
            </a:pPr>
            <a:r>
              <a:rPr sz="1300" b="0" i="1">
                <a:solidFill>
                  <a:srgbClr val="C8C8D8"/>
                </a:solidFill>
                <a:latin typeface="Calibri"/>
              </a:rPr>
              <a:t>    Without programming any global map, swarm steers toward a delivery zone</a:t>
            </a:r>
          </a:p>
          <a:p>
            <a:pPr algn="l">
              <a:spcAft>
                <a:spcPts val="200"/>
              </a:spcAft>
            </a:pPr>
            <a:r>
              <a:rPr sz="800" b="0" i="0">
                <a:solidFill>
                  <a:srgbClr val="FFFFFF"/>
                </a:solidFill>
                <a:latin typeface="Calibri"/>
              </a:rPr>
              <a:t/>
            </a:r>
          </a:p>
          <a:p>
            <a:pPr algn="l">
              <a:spcAft>
                <a:spcPts val="200"/>
              </a:spcAft>
            </a:pPr>
            <a:r>
              <a:rPr sz="1500" b="1" i="0">
                <a:solidFill>
                  <a:srgbClr val="FFFFFF"/>
                </a:solidFill>
                <a:latin typeface="Calibri"/>
              </a:rPr>
              <a:t>🌊  Chirality → Circle Swimmers</a:t>
            </a:r>
          </a:p>
          <a:p>
            <a:pPr algn="l">
              <a:spcAft>
                <a:spcPts val="200"/>
              </a:spcAft>
            </a:pPr>
            <a:r>
              <a:rPr sz="1300" b="0" i="1">
                <a:solidFill>
                  <a:srgbClr val="C8C8D8"/>
                </a:solidFill>
                <a:latin typeface="Calibri"/>
              </a:rPr>
              <a:t>    Adding turning rate ω breaks symmetry: epitrochoidal orbits appear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912"/>
        </a:solidFill>
        <a:effectLst/>
      </p:bgPr>
    </p:bg>
    <p:spTree>
      <p:nvGrpSpPr>
        <p:cNvPr id="1" name=""/>
        <p:cNvGrpSpPr/>
        <p:nvPr/>
      </p:nvGrpSpPr>
      <p:grpSpPr/>
      <p:sp>
        <p:nvSpPr>
          <p:cNvPr id="2" name="TextBox 1"/>
          <p:cNvSpPr txBox="1"/>
          <p:nvPr/>
        </p:nvSpPr>
        <p:spPr>
          <a:xfrm>
            <a:off x="11094415" y="6492240"/>
            <a:ext cx="914400" cy="274320"/>
          </a:xfrm>
          <a:prstGeom prst="rect">
            <a:avLst/>
          </a:prstGeom>
          <a:noFill/>
        </p:spPr>
        <p:txBody>
          <a:bodyPr wrap="square">
            <a:spAutoFit/>
          </a:bodyPr>
          <a:lstStyle/>
          <a:p>
            <a:pPr algn="r"/>
            <a:r>
              <a:rPr sz="1100" b="0" i="0">
                <a:solidFill>
                  <a:srgbClr val="C8C8D8"/>
                </a:solidFill>
                <a:latin typeface="Calibri"/>
              </a:rPr>
              <a:t>2 / 5</a:t>
            </a:r>
          </a:p>
        </p:txBody>
      </p:sp>
      <p:sp>
        <p:nvSpPr>
          <p:cNvPr id="3" name="Rectangle 2"/>
          <p:cNvSpPr/>
          <p:nvPr/>
        </p:nvSpPr>
        <p:spPr>
          <a:xfrm>
            <a:off x="0" y="0"/>
            <a:ext cx="164592" cy="68580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8229600" cy="594360"/>
          </a:xfrm>
          <a:prstGeom prst="rect">
            <a:avLst/>
          </a:prstGeom>
          <a:noFill/>
        </p:spPr>
        <p:txBody>
          <a:bodyPr wrap="square">
            <a:spAutoFit/>
          </a:bodyPr>
          <a:lstStyle/>
          <a:p>
            <a:pPr algn="l"/>
            <a:r>
              <a:rPr sz="3000" b="1" i="0">
                <a:solidFill>
                  <a:srgbClr val="FFFFFF"/>
                </a:solidFill>
                <a:latin typeface="Calibri"/>
              </a:rPr>
              <a:t>THE PJPS MODEL</a:t>
            </a:r>
          </a:p>
        </p:txBody>
      </p:sp>
      <p:sp>
        <p:nvSpPr>
          <p:cNvPr id="5" name="TextBox 4"/>
          <p:cNvSpPr txBox="1"/>
          <p:nvPr/>
        </p:nvSpPr>
        <p:spPr>
          <a:xfrm>
            <a:off x="365760" y="822960"/>
            <a:ext cx="8229600" cy="365760"/>
          </a:xfrm>
          <a:prstGeom prst="rect">
            <a:avLst/>
          </a:prstGeom>
          <a:noFill/>
        </p:spPr>
        <p:txBody>
          <a:bodyPr wrap="square">
            <a:spAutoFit/>
          </a:bodyPr>
          <a:lstStyle/>
          <a:p>
            <a:pPr algn="l"/>
            <a:r>
              <a:rPr sz="1600" b="0" i="1">
                <a:solidFill>
                  <a:srgbClr val="00D4FF"/>
                </a:solidFill>
                <a:latin typeface="Calibri"/>
              </a:rPr>
              <a:t>Photophoretic Janus Particle Swarm — equations &amp; visuals</a:t>
            </a:r>
          </a:p>
        </p:txBody>
      </p:sp>
      <p:sp>
        <p:nvSpPr>
          <p:cNvPr id="6" name="Rectangle 5"/>
          <p:cNvSpPr/>
          <p:nvPr/>
        </p:nvSpPr>
        <p:spPr>
          <a:xfrm>
            <a:off x="365760" y="1261872"/>
            <a:ext cx="11430000" cy="381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0040" y="1371600"/>
            <a:ext cx="6035040" cy="5166360"/>
          </a:xfrm>
          <a:prstGeom prst="roundRect">
            <a:avLst/>
          </a:prstGeom>
          <a:solidFill>
            <a:srgbClr val="16162A"/>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81328"/>
            <a:ext cx="5715000" cy="4937760"/>
          </a:xfrm>
          <a:prstGeom prst="rect">
            <a:avLst/>
          </a:prstGeom>
          <a:noFill/>
        </p:spPr>
        <p:txBody>
          <a:bodyPr wrap="square">
            <a:spAutoFit/>
          </a:bodyPr>
          <a:lstStyle/>
          <a:p>
            <a:pPr algn="l">
              <a:spcAft>
                <a:spcPts val="100"/>
              </a:spcAft>
            </a:pPr>
            <a:r>
              <a:rPr sz="1500" b="1" i="0">
                <a:solidFill>
                  <a:srgbClr val="00D4FF"/>
                </a:solidFill>
                <a:latin typeface="Calibri"/>
              </a:rPr>
              <a:t>📐  State Variables</a:t>
            </a:r>
          </a:p>
          <a:p>
            <a:pPr algn="l">
              <a:spcAft>
                <a:spcPts val="100"/>
              </a:spcAft>
            </a:pPr>
            <a:r>
              <a:rPr sz="1300" b="0" i="0">
                <a:solidFill>
                  <a:srgbClr val="C8C8D8"/>
                </a:solidFill>
                <a:latin typeface="Calibri"/>
              </a:rPr>
              <a:t>    N particles in 2D box L×L</a:t>
            </a:r>
          </a:p>
          <a:p>
            <a:pPr algn="l">
              <a:spcAft>
                <a:spcPts val="100"/>
              </a:spcAft>
            </a:pPr>
            <a:r>
              <a:rPr sz="1300" b="0" i="1">
                <a:solidFill>
                  <a:srgbClr val="FFFFFF"/>
                </a:solidFill>
                <a:latin typeface="Calibri"/>
              </a:rPr>
              <a:t>    Position rᵢ = (xᵢ, yᵢ)   |   Orientation θᵢ ∈ [0, 2π)</a:t>
            </a:r>
          </a:p>
          <a:p>
            <a:pPr algn="l">
              <a:spcAft>
                <a:spcPts val="100"/>
              </a:spcAft>
            </a:pPr>
            <a:r>
              <a:rPr sz="700" b="0" i="0">
                <a:solidFill>
                  <a:srgbClr val="FFFFFF"/>
                </a:solidFill>
                <a:latin typeface="Calibri"/>
              </a:rPr>
              <a:t/>
            </a:r>
          </a:p>
          <a:p>
            <a:pPr algn="l">
              <a:spcAft>
                <a:spcPts val="100"/>
              </a:spcAft>
            </a:pPr>
            <a:r>
              <a:rPr sz="1500" b="1" i="0">
                <a:solidFill>
                  <a:srgbClr val="A04EFF"/>
                </a:solidFill>
                <a:latin typeface="Calibri"/>
              </a:rPr>
              <a:t>🔄  Full Orientation Update  (Δt step)</a:t>
            </a:r>
          </a:p>
          <a:p>
            <a:pPr algn="l">
              <a:spcAft>
                <a:spcPts val="100"/>
              </a:spcAft>
            </a:pPr>
            <a:r>
              <a:rPr sz="1300" b="0" i="0">
                <a:solidFill>
                  <a:srgbClr val="C8C8D8"/>
                </a:solidFill>
                <a:latin typeface="Calibri"/>
              </a:rPr>
              <a:t>    θᵢ(t+dt) = θᵢ</a:t>
            </a:r>
          </a:p>
          <a:p>
            <a:pPr algn="l">
              <a:spcAft>
                <a:spcPts val="100"/>
              </a:spcAft>
            </a:pPr>
            <a:r>
              <a:rPr sz="1300" b="0" i="1">
                <a:solidFill>
                  <a:srgbClr val="FFD700"/>
                </a:solidFill>
                <a:latin typeface="Calibri"/>
              </a:rPr>
              <a:t>         + J · sin(φ_align − θᵢ) · dt    [alignment]</a:t>
            </a:r>
          </a:p>
          <a:p>
            <a:pPr algn="l">
              <a:spcAft>
                <a:spcPts val="100"/>
              </a:spcAft>
            </a:pPr>
            <a:r>
              <a:rPr sz="1300" b="0" i="1">
                <a:solidFill>
                  <a:srgbClr val="00D4FF"/>
                </a:solidFill>
                <a:latin typeface="Calibri"/>
              </a:rPr>
              <a:t>         + α · sin(φ_target − θᵢ) · dt   [phototaxis]</a:t>
            </a:r>
          </a:p>
          <a:p>
            <a:pPr algn="l">
              <a:spcAft>
                <a:spcPts val="100"/>
              </a:spcAft>
            </a:pPr>
            <a:r>
              <a:rPr sz="1300" b="0" i="1">
                <a:solidFill>
                  <a:srgbClr val="FF6B6B"/>
                </a:solidFill>
                <a:latin typeface="Calibri"/>
              </a:rPr>
              <a:t>         + κ_B · sin(θ_B − θᵢ) · dt      [magnetic]</a:t>
            </a:r>
          </a:p>
          <a:p>
            <a:pPr algn="l">
              <a:spcAft>
                <a:spcPts val="100"/>
              </a:spcAft>
            </a:pPr>
            <a:r>
              <a:rPr sz="1300" b="0" i="1">
                <a:solidFill>
                  <a:srgbClr val="C8C8D8"/>
                </a:solidFill>
                <a:latin typeface="Calibri"/>
              </a:rPr>
              <a:t>         + η · ξᵢ · √dt                  [noise]</a:t>
            </a:r>
          </a:p>
          <a:p>
            <a:pPr algn="l">
              <a:spcAft>
                <a:spcPts val="100"/>
              </a:spcAft>
            </a:pPr>
            <a:r>
              <a:rPr sz="700" b="0" i="0">
                <a:solidFill>
                  <a:srgbClr val="FFFFFF"/>
                </a:solidFill>
                <a:latin typeface="Calibri"/>
              </a:rPr>
              <a:t/>
            </a:r>
          </a:p>
          <a:p>
            <a:pPr algn="l">
              <a:spcAft>
                <a:spcPts val="100"/>
              </a:spcAft>
            </a:pPr>
            <a:r>
              <a:rPr sz="1500" b="1" i="0">
                <a:solidFill>
                  <a:srgbClr val="A04EFF"/>
                </a:solidFill>
                <a:latin typeface="Calibri"/>
              </a:rPr>
              <a:t>⚡  Position Update</a:t>
            </a:r>
          </a:p>
          <a:p>
            <a:pPr algn="l">
              <a:spcAft>
                <a:spcPts val="100"/>
              </a:spcAft>
            </a:pPr>
            <a:r>
              <a:rPr sz="1300" b="0" i="1">
                <a:solidFill>
                  <a:srgbClr val="FFFFFF"/>
                </a:solidFill>
                <a:latin typeface="Calibri"/>
              </a:rPr>
              <a:t>    xᵢ(t+dt) = xᵢ + v₀(i)·cos(θᵢ)·dt</a:t>
            </a:r>
          </a:p>
          <a:p>
            <a:pPr algn="l">
              <a:spcAft>
                <a:spcPts val="100"/>
              </a:spcAft>
            </a:pPr>
            <a:r>
              <a:rPr sz="1300" b="0" i="1">
                <a:solidFill>
                  <a:srgbClr val="FFFFFF"/>
                </a:solidFill>
                <a:latin typeface="Calibri"/>
              </a:rPr>
              <a:t>    yᵢ(t+dt) = yᵢ + v₀(i)·sin(θᵢ)·dt</a:t>
            </a:r>
          </a:p>
          <a:p>
            <a:pPr algn="l">
              <a:spcAft>
                <a:spcPts val="100"/>
              </a:spcAft>
            </a:pPr>
            <a:r>
              <a:rPr sz="700" b="0" i="0">
                <a:solidFill>
                  <a:srgbClr val="FFFFFF"/>
                </a:solidFill>
                <a:latin typeface="Calibri"/>
              </a:rPr>
              <a:t/>
            </a:r>
          </a:p>
          <a:p>
            <a:pPr algn="l">
              <a:spcAft>
                <a:spcPts val="100"/>
              </a:spcAft>
            </a:pPr>
            <a:r>
              <a:rPr sz="1500" b="1" i="0">
                <a:solidFill>
                  <a:srgbClr val="A04EFF"/>
                </a:solidFill>
                <a:latin typeface="Calibri"/>
              </a:rPr>
              <a:t>🔆  Speed from Local Illumination</a:t>
            </a:r>
          </a:p>
          <a:p>
            <a:pPr algn="l">
              <a:spcAft>
                <a:spcPts val="100"/>
              </a:spcAft>
            </a:pPr>
            <a:r>
              <a:rPr sz="1300" b="0" i="1">
                <a:solidFill>
                  <a:srgbClr val="FFFFFF"/>
                </a:solidFill>
                <a:latin typeface="Calibri"/>
              </a:rPr>
              <a:t>    v₀(i) = v_max · min(1,  I_local(i) / I_ref )</a:t>
            </a:r>
          </a:p>
          <a:p>
            <a:pPr algn="l">
              <a:spcAft>
                <a:spcPts val="100"/>
              </a:spcAft>
            </a:pPr>
            <a:r>
              <a:rPr sz="1200" b="0" i="1">
                <a:solidFill>
                  <a:srgbClr val="C8C8D8"/>
                </a:solidFill>
                <a:latin typeface="Calibri"/>
              </a:rPr>
              <a:t>    I_local(i) = I_ext(rᵢ) + Σⱼ I_emit·exp(−r²ᵢⱼ/σ²)·max(0, êⱼ·êⱼᵢ)</a:t>
            </a:r>
          </a:p>
          <a:p>
            <a:pPr algn="l">
              <a:spcAft>
                <a:spcPts val="100"/>
              </a:spcAft>
            </a:pPr>
            <a:r>
              <a:rPr sz="700" b="0" i="0">
                <a:solidFill>
                  <a:srgbClr val="FFFFFF"/>
                </a:solidFill>
                <a:latin typeface="Calibri"/>
              </a:rPr>
              <a:t/>
            </a:r>
          </a:p>
          <a:p>
            <a:pPr algn="l">
              <a:spcAft>
                <a:spcPts val="100"/>
              </a:spcAft>
            </a:pPr>
            <a:r>
              <a:rPr sz="1500" b="1" i="0">
                <a:solidFill>
                  <a:srgbClr val="FFD700"/>
                </a:solidFill>
                <a:latin typeface="Calibri"/>
              </a:rPr>
              <a:t>🎯  Transport Efficiency Order Parameter</a:t>
            </a:r>
          </a:p>
          <a:p>
            <a:pPr algn="l">
              <a:spcAft>
                <a:spcPts val="100"/>
              </a:spcAft>
            </a:pPr>
            <a:r>
              <a:rPr sz="1300" b="0" i="1">
                <a:solidFill>
                  <a:srgbClr val="FFFFFF"/>
                </a:solidFill>
                <a:latin typeface="Calibri"/>
              </a:rPr>
              <a:t>    Φ_transport = ⟨cos(θᵢ − φ_target,i)⟩  ∈ [−1, 1]</a:t>
            </a:r>
          </a:p>
        </p:txBody>
      </p:sp>
      <p:sp>
        <p:nvSpPr>
          <p:cNvPr id="9" name="Rounded Rectangle 8"/>
          <p:cNvSpPr/>
          <p:nvPr/>
        </p:nvSpPr>
        <p:spPr>
          <a:xfrm>
            <a:off x="6583680" y="1371600"/>
            <a:ext cx="5303520" cy="5166360"/>
          </a:xfrm>
          <a:prstGeom prst="roundRect">
            <a:avLst/>
          </a:prstGeom>
          <a:solidFill>
            <a:srgbClr val="16162A"/>
          </a:solidFill>
          <a:ln w="19050">
            <a:solidFill>
              <a:srgbClr val="A04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irality_demo.png"/>
          <p:cNvPicPr>
            <a:picLocks noChangeAspect="1"/>
          </p:cNvPicPr>
          <p:nvPr/>
        </p:nvPicPr>
        <p:blipFill>
          <a:blip r:embed="rId2"/>
          <a:stretch>
            <a:fillRect/>
          </a:stretch>
        </p:blipFill>
        <p:spPr>
          <a:xfrm>
            <a:off x="6675120" y="1481328"/>
            <a:ext cx="5120640" cy="4206240"/>
          </a:xfrm>
          <a:prstGeom prst="rect">
            <a:avLst/>
          </a:prstGeom>
        </p:spPr>
      </p:pic>
      <p:sp>
        <p:nvSpPr>
          <p:cNvPr id="11" name="TextBox 10"/>
          <p:cNvSpPr txBox="1"/>
          <p:nvPr/>
        </p:nvSpPr>
        <p:spPr>
          <a:xfrm>
            <a:off x="6675120" y="5742432"/>
            <a:ext cx="5120640" cy="685800"/>
          </a:xfrm>
          <a:prstGeom prst="rect">
            <a:avLst/>
          </a:prstGeom>
          <a:noFill/>
        </p:spPr>
        <p:txBody>
          <a:bodyPr wrap="square">
            <a:spAutoFit/>
          </a:bodyPr>
          <a:lstStyle/>
          <a:p>
            <a:pPr algn="ctr"/>
            <a:r>
              <a:rPr sz="1100" b="0" i="1">
                <a:solidFill>
                  <a:srgbClr val="C8C8D8"/>
                </a:solidFill>
                <a:latin typeface="Calibri"/>
              </a:rPr>
              <a:t>Chirality ω=0: straight runs (left)  vs  ω&gt;0: circle swimmers (right)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912"/>
        </a:solidFill>
        <a:effectLst/>
      </p:bgPr>
    </p:bg>
    <p:spTree>
      <p:nvGrpSpPr>
        <p:cNvPr id="1" name=""/>
        <p:cNvGrpSpPr/>
        <p:nvPr/>
      </p:nvGrpSpPr>
      <p:grpSpPr/>
      <p:sp>
        <p:nvSpPr>
          <p:cNvPr id="2" name="TextBox 1"/>
          <p:cNvSpPr txBox="1"/>
          <p:nvPr/>
        </p:nvSpPr>
        <p:spPr>
          <a:xfrm>
            <a:off x="11094415" y="6492240"/>
            <a:ext cx="914400" cy="274320"/>
          </a:xfrm>
          <a:prstGeom prst="rect">
            <a:avLst/>
          </a:prstGeom>
          <a:noFill/>
        </p:spPr>
        <p:txBody>
          <a:bodyPr wrap="square">
            <a:spAutoFit/>
          </a:bodyPr>
          <a:lstStyle/>
          <a:p>
            <a:pPr algn="r"/>
            <a:r>
              <a:rPr sz="1100" b="0" i="0">
                <a:solidFill>
                  <a:srgbClr val="C8C8D8"/>
                </a:solidFill>
                <a:latin typeface="Calibri"/>
              </a:rPr>
              <a:t>3 / 5</a:t>
            </a:r>
          </a:p>
        </p:txBody>
      </p:sp>
      <p:sp>
        <p:nvSpPr>
          <p:cNvPr id="3" name="Rectangle 2"/>
          <p:cNvSpPr/>
          <p:nvPr/>
        </p:nvSpPr>
        <p:spPr>
          <a:xfrm>
            <a:off x="0" y="0"/>
            <a:ext cx="164592" cy="6858000"/>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8229600" cy="594360"/>
          </a:xfrm>
          <a:prstGeom prst="rect">
            <a:avLst/>
          </a:prstGeom>
          <a:noFill/>
        </p:spPr>
        <p:txBody>
          <a:bodyPr wrap="square">
            <a:spAutoFit/>
          </a:bodyPr>
          <a:lstStyle/>
          <a:p>
            <a:pPr algn="l"/>
            <a:r>
              <a:rPr sz="3000" b="1" i="0">
                <a:solidFill>
                  <a:srgbClr val="FFFFFF"/>
                </a:solidFill>
                <a:latin typeface="Calibri"/>
              </a:rPr>
              <a:t>CREATIVE EXPLORATION</a:t>
            </a:r>
          </a:p>
        </p:txBody>
      </p:sp>
      <p:sp>
        <p:nvSpPr>
          <p:cNvPr id="5" name="TextBox 4"/>
          <p:cNvSpPr txBox="1"/>
          <p:nvPr/>
        </p:nvSpPr>
        <p:spPr>
          <a:xfrm>
            <a:off x="365760" y="822960"/>
            <a:ext cx="9144000" cy="365760"/>
          </a:xfrm>
          <a:prstGeom prst="rect">
            <a:avLst/>
          </a:prstGeom>
          <a:noFill/>
        </p:spPr>
        <p:txBody>
          <a:bodyPr wrap="square">
            <a:spAutoFit/>
          </a:bodyPr>
          <a:lstStyle/>
          <a:p>
            <a:pPr algn="l"/>
            <a:r>
              <a:rPr sz="1600" b="0" i="1">
                <a:solidFill>
                  <a:srgbClr val="FFD700"/>
                </a:solidFill>
                <a:latin typeface="Calibri"/>
              </a:rPr>
              <a:t>Phase diagram · New state prediction · Boundary condition hacking</a:t>
            </a:r>
          </a:p>
        </p:txBody>
      </p:sp>
      <p:sp>
        <p:nvSpPr>
          <p:cNvPr id="6" name="Rectangle 5"/>
          <p:cNvSpPr/>
          <p:nvPr/>
        </p:nvSpPr>
        <p:spPr>
          <a:xfrm>
            <a:off x="365760" y="1261872"/>
            <a:ext cx="11430000" cy="38100"/>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0040" y="1389888"/>
            <a:ext cx="6583680" cy="5166360"/>
          </a:xfrm>
          <a:prstGeom prst="roundRect">
            <a:avLst/>
          </a:prstGeom>
          <a:solidFill>
            <a:srgbClr val="16162A"/>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hase_diagram.png"/>
          <p:cNvPicPr>
            <a:picLocks noChangeAspect="1"/>
          </p:cNvPicPr>
          <p:nvPr/>
        </p:nvPicPr>
        <p:blipFill>
          <a:blip r:embed="rId2"/>
          <a:stretch>
            <a:fillRect/>
          </a:stretch>
        </p:blipFill>
        <p:spPr>
          <a:xfrm>
            <a:off x="411480" y="1481328"/>
            <a:ext cx="6400800" cy="4480560"/>
          </a:xfrm>
          <a:prstGeom prst="rect">
            <a:avLst/>
          </a:prstGeom>
        </p:spPr>
      </p:pic>
      <p:sp>
        <p:nvSpPr>
          <p:cNvPr id="9" name="TextBox 8"/>
          <p:cNvSpPr txBox="1"/>
          <p:nvPr/>
        </p:nvSpPr>
        <p:spPr>
          <a:xfrm>
            <a:off x="411480" y="5989320"/>
            <a:ext cx="6400800" cy="457200"/>
          </a:xfrm>
          <a:prstGeom prst="rect">
            <a:avLst/>
          </a:prstGeom>
          <a:noFill/>
        </p:spPr>
        <p:txBody>
          <a:bodyPr wrap="square">
            <a:spAutoFit/>
          </a:bodyPr>
          <a:lstStyle/>
          <a:p>
            <a:pPr algn="ctr"/>
            <a:r>
              <a:rPr sz="1100" b="0" i="1">
                <a:solidFill>
                  <a:srgbClr val="C8C8D8"/>
                </a:solidFill>
                <a:latin typeface="Calibri"/>
              </a:rPr>
              <a:t>Phase Diagram: Transport Efficiency (left) &amp; Target Occupancy (right) vs η &amp; J</a:t>
            </a:r>
          </a:p>
        </p:txBody>
      </p:sp>
      <p:sp>
        <p:nvSpPr>
          <p:cNvPr id="10" name="Rounded Rectangle 9"/>
          <p:cNvSpPr/>
          <p:nvPr/>
        </p:nvSpPr>
        <p:spPr>
          <a:xfrm>
            <a:off x="7086600" y="1389888"/>
            <a:ext cx="4800600" cy="2331720"/>
          </a:xfrm>
          <a:prstGeom prst="roundRect">
            <a:avLst/>
          </a:prstGeom>
          <a:solidFill>
            <a:srgbClr val="16162A"/>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1499616"/>
            <a:ext cx="4480560" cy="365760"/>
          </a:xfrm>
          <a:prstGeom prst="rect">
            <a:avLst/>
          </a:prstGeom>
          <a:noFill/>
        </p:spPr>
        <p:txBody>
          <a:bodyPr wrap="square">
            <a:spAutoFit/>
          </a:bodyPr>
          <a:lstStyle/>
          <a:p>
            <a:pPr algn="l"/>
            <a:r>
              <a:rPr sz="1500" b="1" i="0">
                <a:solidFill>
                  <a:srgbClr val="FFD700"/>
                </a:solidFill>
                <a:latin typeface="Calibri"/>
              </a:rPr>
              <a:t>📊  Reading the Phase Diagram</a:t>
            </a:r>
          </a:p>
        </p:txBody>
      </p:sp>
      <p:sp>
        <p:nvSpPr>
          <p:cNvPr id="12" name="TextBox 11"/>
          <p:cNvSpPr txBox="1"/>
          <p:nvPr/>
        </p:nvSpPr>
        <p:spPr>
          <a:xfrm>
            <a:off x="7269480" y="1920240"/>
            <a:ext cx="4480560" cy="1691640"/>
          </a:xfrm>
          <a:prstGeom prst="rect">
            <a:avLst/>
          </a:prstGeom>
          <a:noFill/>
        </p:spPr>
        <p:txBody>
          <a:bodyPr wrap="square">
            <a:spAutoFit/>
          </a:bodyPr>
          <a:lstStyle/>
          <a:p>
            <a:pPr algn="l">
              <a:spcAft>
                <a:spcPts val="300"/>
              </a:spcAft>
            </a:pPr>
            <a:r>
              <a:rPr sz="1300" b="1" i="0">
                <a:solidFill>
                  <a:srgbClr val="FFFFFF"/>
                </a:solidFill>
                <a:latin typeface="Calibri"/>
              </a:rPr>
              <a:t>🟡  Low η + High J  →  STREAMING PHASE</a:t>
            </a:r>
          </a:p>
          <a:p>
            <a:pPr algn="l">
              <a:spcAft>
                <a:spcPts val="300"/>
              </a:spcAft>
            </a:pPr>
            <a:r>
              <a:rPr sz="1200" b="0" i="1">
                <a:solidFill>
                  <a:srgbClr val="C8C8D8"/>
                </a:solidFill>
                <a:latin typeface="Calibri"/>
              </a:rPr>
              <a:t>    Φ_transport → 1: swarm flows efficiently to target</a:t>
            </a:r>
          </a:p>
          <a:p>
            <a:pPr algn="l">
              <a:spcAft>
                <a:spcPts val="300"/>
              </a:spcAft>
            </a:pPr>
            <a:r>
              <a:rPr sz="1300" b="1" i="0">
                <a:solidFill>
                  <a:srgbClr val="FFFFFF"/>
                </a:solidFill>
                <a:latin typeface="Calibri"/>
              </a:rPr>
              <a:t>🔵  High η + Low J  →  DISORDERED GAS</a:t>
            </a:r>
          </a:p>
          <a:p>
            <a:pPr algn="l">
              <a:spcAft>
                <a:spcPts val="300"/>
              </a:spcAft>
            </a:pPr>
            <a:r>
              <a:rPr sz="1200" b="0" i="1">
                <a:solidFill>
                  <a:srgbClr val="C8C8D8"/>
                </a:solidFill>
                <a:latin typeface="Calibri"/>
              </a:rPr>
              <a:t>    Φ_transport → 0: random wandering, no delivery</a:t>
            </a:r>
          </a:p>
          <a:p>
            <a:pPr algn="l">
              <a:spcAft>
                <a:spcPts val="300"/>
              </a:spcAft>
            </a:pPr>
            <a:r>
              <a:rPr sz="1200" b="0" i="1">
                <a:solidFill>
                  <a:srgbClr val="00D4FF"/>
                </a:solidFill>
                <a:latin typeface="Calibri"/>
              </a:rPr>
              <a:t>⚪  Phase boundary scales as  η_c ∝ √J</a:t>
            </a:r>
          </a:p>
        </p:txBody>
      </p:sp>
      <p:sp>
        <p:nvSpPr>
          <p:cNvPr id="13" name="Rounded Rectangle 12"/>
          <p:cNvSpPr/>
          <p:nvPr/>
        </p:nvSpPr>
        <p:spPr>
          <a:xfrm>
            <a:off x="7086600" y="3840480"/>
            <a:ext cx="4800600" cy="2715768"/>
          </a:xfrm>
          <a:prstGeom prst="roundRect">
            <a:avLst/>
          </a:prstGeom>
          <a:solidFill>
            <a:srgbClr val="16162A"/>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3950208"/>
            <a:ext cx="4480560" cy="365760"/>
          </a:xfrm>
          <a:prstGeom prst="rect">
            <a:avLst/>
          </a:prstGeom>
          <a:noFill/>
        </p:spPr>
        <p:txBody>
          <a:bodyPr wrap="square">
            <a:spAutoFit/>
          </a:bodyPr>
          <a:lstStyle/>
          <a:p>
            <a:pPr algn="l"/>
            <a:r>
              <a:rPr sz="1500" b="1" i="0">
                <a:solidFill>
                  <a:srgbClr val="FF6B6B"/>
                </a:solidFill>
                <a:latin typeface="Calibri"/>
              </a:rPr>
              <a:t>🔮  Predicted New State</a:t>
            </a:r>
          </a:p>
        </p:txBody>
      </p:sp>
      <p:sp>
        <p:nvSpPr>
          <p:cNvPr id="15" name="Rectangle 14"/>
          <p:cNvSpPr/>
          <p:nvPr/>
        </p:nvSpPr>
        <p:spPr>
          <a:xfrm>
            <a:off x="7269480" y="4315968"/>
            <a:ext cx="4480560" cy="254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9480" y="4389120"/>
            <a:ext cx="4480560" cy="2103120"/>
          </a:xfrm>
          <a:prstGeom prst="rect">
            <a:avLst/>
          </a:prstGeom>
          <a:noFill/>
        </p:spPr>
        <p:txBody>
          <a:bodyPr wrap="square">
            <a:spAutoFit/>
          </a:bodyPr>
          <a:lstStyle/>
          <a:p>
            <a:pPr algn="l">
              <a:spcAft>
                <a:spcPts val="200"/>
              </a:spcAft>
            </a:pPr>
            <a:r>
              <a:rPr sz="1400" b="1" i="0">
                <a:solidFill>
                  <a:srgbClr val="FFFFFF"/>
                </a:solidFill>
                <a:latin typeface="Calibri"/>
              </a:rPr>
              <a:t>CHIRAL STREAMING PHASE  (ω ≠ 0)</a:t>
            </a:r>
          </a:p>
          <a:p>
            <a:pPr algn="l">
              <a:spcAft>
                <a:spcPts val="200"/>
              </a:spcAft>
            </a:pPr>
            <a:r>
              <a:rPr sz="1200" b="0" i="0">
                <a:solidFill>
                  <a:srgbClr val="C8C8D8"/>
                </a:solidFill>
                <a:latin typeface="Calibri"/>
              </a:rPr>
              <a:t>Adding chirality ω to the streaming phase breaks mirror symmetry:</a:t>
            </a:r>
          </a:p>
          <a:p>
            <a:pPr algn="l">
              <a:spcAft>
                <a:spcPts val="200"/>
              </a:spcAft>
            </a:pPr>
            <a:r>
              <a:rPr sz="1200" b="0" i="1">
                <a:solidFill>
                  <a:srgbClr val="00D4FF"/>
                </a:solidFill>
                <a:latin typeface="Calibri"/>
              </a:rPr>
              <a:t>→  Swarm orbits the target in tight spirals instead of streaming directly</a:t>
            </a:r>
          </a:p>
          <a:p>
            <a:pPr algn="l">
              <a:spcAft>
                <a:spcPts val="200"/>
              </a:spcAft>
            </a:pPr>
            <a:r>
              <a:rPr sz="1200" b="0" i="1">
                <a:solidFill>
                  <a:srgbClr val="00D4FF"/>
                </a:solidFill>
                <a:latin typeface="Calibri"/>
              </a:rPr>
              <a:t>→  Predict: Φ_transport drops but target occupancy rises (spiral trapping)</a:t>
            </a:r>
          </a:p>
          <a:p>
            <a:pPr algn="l">
              <a:spcAft>
                <a:spcPts val="200"/>
              </a:spcAft>
            </a:pPr>
            <a:r>
              <a:rPr sz="700" b="0" i="0">
                <a:solidFill>
                  <a:srgbClr val="FFFFFF"/>
                </a:solidFill>
                <a:latin typeface="Calibri"/>
              </a:rPr>
              <a:t/>
            </a:r>
          </a:p>
          <a:p>
            <a:pPr algn="l">
              <a:spcAft>
                <a:spcPts val="200"/>
              </a:spcAft>
            </a:pPr>
            <a:r>
              <a:rPr sz="1400" b="1" i="0">
                <a:solidFill>
                  <a:srgbClr val="FFFFFF"/>
                </a:solidFill>
                <a:latin typeface="Calibri"/>
              </a:rPr>
              <a:t>REFLECTIVE BOUNDARY HACK</a:t>
            </a:r>
          </a:p>
          <a:p>
            <a:pPr algn="l">
              <a:spcAft>
                <a:spcPts val="200"/>
              </a:spcAft>
            </a:pPr>
            <a:r>
              <a:rPr sz="1200" b="0" i="0">
                <a:solidFill>
                  <a:srgbClr val="C8C8D8"/>
                </a:solidFill>
                <a:latin typeface="Calibri"/>
              </a:rPr>
              <a:t>Swapping periodic → reflective walls:</a:t>
            </a:r>
          </a:p>
          <a:p>
            <a:pPr algn="l">
              <a:spcAft>
                <a:spcPts val="200"/>
              </a:spcAft>
            </a:pPr>
            <a:r>
              <a:rPr sz="1200" b="0" i="1">
                <a:solidFill>
                  <a:srgbClr val="FFD700"/>
                </a:solidFill>
                <a:latin typeface="Calibri"/>
              </a:rPr>
              <a:t>→  Swarm accumulates at walls → band state emerges</a:t>
            </a:r>
          </a:p>
          <a:p>
            <a:pPr algn="l">
              <a:spcAft>
                <a:spcPts val="200"/>
              </a:spcAft>
            </a:pPr>
            <a:r>
              <a:rPr sz="1200" b="0" i="1">
                <a:solidFill>
                  <a:srgbClr val="FFD700"/>
                </a:solidFill>
                <a:latin typeface="Calibri"/>
              </a:rPr>
              <a:t>→  Interior becomes depleted — a new 'hollow swarm' phase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912"/>
        </a:solidFill>
        <a:effectLst/>
      </p:bgPr>
    </p:bg>
    <p:spTree>
      <p:nvGrpSpPr>
        <p:cNvPr id="1" name=""/>
        <p:cNvGrpSpPr/>
        <p:nvPr/>
      </p:nvGrpSpPr>
      <p:grpSpPr/>
      <p:sp>
        <p:nvSpPr>
          <p:cNvPr id="2" name="TextBox 1"/>
          <p:cNvSpPr txBox="1"/>
          <p:nvPr/>
        </p:nvSpPr>
        <p:spPr>
          <a:xfrm>
            <a:off x="11094415" y="6492240"/>
            <a:ext cx="914400" cy="274320"/>
          </a:xfrm>
          <a:prstGeom prst="rect">
            <a:avLst/>
          </a:prstGeom>
          <a:noFill/>
        </p:spPr>
        <p:txBody>
          <a:bodyPr wrap="square">
            <a:spAutoFit/>
          </a:bodyPr>
          <a:lstStyle/>
          <a:p>
            <a:pPr algn="r"/>
            <a:r>
              <a:rPr sz="1100" b="0" i="0">
                <a:solidFill>
                  <a:srgbClr val="C8C8D8"/>
                </a:solidFill>
                <a:latin typeface="Calibri"/>
              </a:rPr>
              <a:t>4 / 5</a:t>
            </a:r>
          </a:p>
        </p:txBody>
      </p:sp>
      <p:sp>
        <p:nvSpPr>
          <p:cNvPr id="3" name="Rectangle 2"/>
          <p:cNvSpPr/>
          <p:nvPr/>
        </p:nvSpPr>
        <p:spPr>
          <a:xfrm>
            <a:off x="0" y="0"/>
            <a:ext cx="164592" cy="6858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8229600" cy="594360"/>
          </a:xfrm>
          <a:prstGeom prst="rect">
            <a:avLst/>
          </a:prstGeom>
          <a:noFill/>
        </p:spPr>
        <p:txBody>
          <a:bodyPr wrap="square">
            <a:spAutoFit/>
          </a:bodyPr>
          <a:lstStyle/>
          <a:p>
            <a:pPr algn="l"/>
            <a:r>
              <a:rPr sz="3000" b="1" i="0">
                <a:solidFill>
                  <a:srgbClr val="FFFFFF"/>
                </a:solidFill>
                <a:latin typeface="Calibri"/>
              </a:rPr>
              <a:t>THE FINAL DELIVERABLE</a:t>
            </a:r>
          </a:p>
        </p:txBody>
      </p:sp>
      <p:sp>
        <p:nvSpPr>
          <p:cNvPr id="5" name="TextBox 4"/>
          <p:cNvSpPr txBox="1"/>
          <p:nvPr/>
        </p:nvSpPr>
        <p:spPr>
          <a:xfrm>
            <a:off x="365760" y="822960"/>
            <a:ext cx="10058400" cy="365760"/>
          </a:xfrm>
          <a:prstGeom prst="rect">
            <a:avLst/>
          </a:prstGeom>
          <a:noFill/>
        </p:spPr>
        <p:txBody>
          <a:bodyPr wrap="square">
            <a:spAutoFit/>
          </a:bodyPr>
          <a:lstStyle/>
          <a:p>
            <a:pPr algn="l"/>
            <a:r>
              <a:rPr sz="1600" b="0" i="1">
                <a:solidFill>
                  <a:srgbClr val="FF6B6B"/>
                </a:solidFill>
                <a:latin typeface="Calibri"/>
              </a:rPr>
              <a:t>Collective obstacle navigation — swarm intelligence rescues trapped particles</a:t>
            </a:r>
          </a:p>
        </p:txBody>
      </p:sp>
      <p:sp>
        <p:nvSpPr>
          <p:cNvPr id="6" name="Rectangle 5"/>
          <p:cNvSpPr/>
          <p:nvPr/>
        </p:nvSpPr>
        <p:spPr>
          <a:xfrm>
            <a:off x="365760" y="1261872"/>
            <a:ext cx="11430000" cy="381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0040" y="1389888"/>
            <a:ext cx="7726679" cy="5166360"/>
          </a:xfrm>
          <a:prstGeom prst="roundRect">
            <a:avLst/>
          </a:prstGeom>
          <a:solidFill>
            <a:srgbClr val="16162A"/>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obstacle_comparison.png"/>
          <p:cNvPicPr>
            <a:picLocks noChangeAspect="1"/>
          </p:cNvPicPr>
          <p:nvPr/>
        </p:nvPicPr>
        <p:blipFill>
          <a:blip r:embed="rId2"/>
          <a:stretch>
            <a:fillRect/>
          </a:stretch>
        </p:blipFill>
        <p:spPr>
          <a:xfrm>
            <a:off x="411480" y="1481328"/>
            <a:ext cx="7543800" cy="4663440"/>
          </a:xfrm>
          <a:prstGeom prst="rect">
            <a:avLst/>
          </a:prstGeom>
        </p:spPr>
      </p:pic>
      <p:sp>
        <p:nvSpPr>
          <p:cNvPr id="9" name="TextBox 8"/>
          <p:cNvSpPr txBox="1"/>
          <p:nvPr/>
        </p:nvSpPr>
        <p:spPr>
          <a:xfrm>
            <a:off x="411480" y="6172200"/>
            <a:ext cx="7543800" cy="320040"/>
          </a:xfrm>
          <a:prstGeom prst="rect">
            <a:avLst/>
          </a:prstGeom>
          <a:noFill/>
        </p:spPr>
        <p:txBody>
          <a:bodyPr wrap="square">
            <a:spAutoFit/>
          </a:bodyPr>
          <a:lstStyle/>
          <a:p>
            <a:pPr algn="ctr"/>
            <a:r>
              <a:rPr sz="1000" b="0" i="1">
                <a:solidFill>
                  <a:srgbClr val="C8C8D8"/>
                </a:solidFill>
                <a:latin typeface="Calibri"/>
              </a:rPr>
              <a:t>Top: target occupancy over time  |  Middle: transport efficiency  |  Bottom: final snapshots</a:t>
            </a:r>
          </a:p>
        </p:txBody>
      </p:sp>
      <p:sp>
        <p:nvSpPr>
          <p:cNvPr id="10" name="Rounded Rectangle 9"/>
          <p:cNvSpPr/>
          <p:nvPr/>
        </p:nvSpPr>
        <p:spPr>
          <a:xfrm>
            <a:off x="8275320" y="1389888"/>
            <a:ext cx="3657600" cy="2194560"/>
          </a:xfrm>
          <a:prstGeom prst="roundRect">
            <a:avLst/>
          </a:prstGeom>
          <a:solidFill>
            <a:srgbClr val="16162A"/>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1499616"/>
            <a:ext cx="3383280" cy="365760"/>
          </a:xfrm>
          <a:prstGeom prst="rect">
            <a:avLst/>
          </a:prstGeom>
          <a:noFill/>
        </p:spPr>
        <p:txBody>
          <a:bodyPr wrap="square">
            <a:spAutoFit/>
          </a:bodyPr>
          <a:lstStyle/>
          <a:p>
            <a:pPr algn="l"/>
            <a:r>
              <a:rPr sz="1400" b="1" i="0">
                <a:solidFill>
                  <a:srgbClr val="FF6B6B"/>
                </a:solidFill>
                <a:latin typeface="Calibri"/>
              </a:rPr>
              <a:t>📌  Key Result</a:t>
            </a:r>
          </a:p>
        </p:txBody>
      </p:sp>
      <p:sp>
        <p:nvSpPr>
          <p:cNvPr id="12" name="TextBox 11"/>
          <p:cNvSpPr txBox="1"/>
          <p:nvPr/>
        </p:nvSpPr>
        <p:spPr>
          <a:xfrm>
            <a:off x="8458200" y="1920240"/>
            <a:ext cx="3383280" cy="1600200"/>
          </a:xfrm>
          <a:prstGeom prst="rect">
            <a:avLst/>
          </a:prstGeom>
          <a:noFill/>
        </p:spPr>
        <p:txBody>
          <a:bodyPr wrap="square">
            <a:spAutoFit/>
          </a:bodyPr>
          <a:lstStyle/>
          <a:p>
            <a:pPr algn="l">
              <a:spcAft>
                <a:spcPts val="300"/>
              </a:spcAft>
            </a:pPr>
            <a:r>
              <a:rPr sz="1200" b="1" i="0">
                <a:solidFill>
                  <a:srgbClr val="FFFFFF"/>
                </a:solidFill>
                <a:latin typeface="Calibri"/>
              </a:rPr>
              <a:t>I changed:  J = 0 → 2  (added alignment)</a:t>
            </a:r>
          </a:p>
          <a:p>
            <a:pPr algn="l">
              <a:spcAft>
                <a:spcPts val="300"/>
              </a:spcAft>
            </a:pPr>
            <a:r>
              <a:rPr sz="1200" b="0" i="0">
                <a:solidFill>
                  <a:srgbClr val="C8C8D8"/>
                </a:solidFill>
                <a:latin typeface="Calibri"/>
              </a:rPr>
              <a:t>I measured:  Φ_transport  with shadow obstacle</a:t>
            </a:r>
          </a:p>
          <a:p>
            <a:pPr algn="l">
              <a:spcAft>
                <a:spcPts val="300"/>
              </a:spcAft>
            </a:pPr>
            <a:r>
              <a:rPr sz="1200" b="1" i="0">
                <a:solidFill>
                  <a:srgbClr val="FFD700"/>
                </a:solidFill>
                <a:latin typeface="Calibri"/>
              </a:rPr>
              <a:t>I found:  +10% delivery vs isolated particles</a:t>
            </a:r>
          </a:p>
          <a:p>
            <a:pPr algn="l">
              <a:spcAft>
                <a:spcPts val="300"/>
              </a:spcAft>
            </a:pPr>
            <a:r>
              <a:rPr sz="1200" b="0" i="1">
                <a:solidFill>
                  <a:srgbClr val="00D4FF"/>
                </a:solidFill>
                <a:latin typeface="Calibri"/>
              </a:rPr>
              <a:t>This suggests:  collective alignment rescues shadow-trapped particles via radiation coupling</a:t>
            </a:r>
          </a:p>
          <a:p>
            <a:pPr algn="l">
              <a:spcAft>
                <a:spcPts val="300"/>
              </a:spcAft>
            </a:pPr>
            <a:r>
              <a:rPr sz="1100" b="0" i="1">
                <a:solidFill>
                  <a:srgbClr val="C8C8D8"/>
                </a:solidFill>
                <a:latin typeface="Calibri"/>
              </a:rPr>
              <a:t>But the model ignores:  hydrodynamic back-flow &amp; wave optics diffraction</a:t>
            </a:r>
          </a:p>
        </p:txBody>
      </p:sp>
      <p:sp>
        <p:nvSpPr>
          <p:cNvPr id="13" name="Rounded Rectangle 12"/>
          <p:cNvSpPr/>
          <p:nvPr/>
        </p:nvSpPr>
        <p:spPr>
          <a:xfrm>
            <a:off x="8275320" y="3730752"/>
            <a:ext cx="3657600" cy="2825496"/>
          </a:xfrm>
          <a:prstGeom prst="roundRect">
            <a:avLst/>
          </a:prstGeom>
          <a:solidFill>
            <a:srgbClr val="16162A"/>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3840480"/>
            <a:ext cx="3383280" cy="365760"/>
          </a:xfrm>
          <a:prstGeom prst="rect">
            <a:avLst/>
          </a:prstGeom>
          <a:noFill/>
        </p:spPr>
        <p:txBody>
          <a:bodyPr wrap="square">
            <a:spAutoFit/>
          </a:bodyPr>
          <a:lstStyle/>
          <a:p>
            <a:pPr algn="l"/>
            <a:r>
              <a:rPr sz="1400" b="1" i="0">
                <a:solidFill>
                  <a:srgbClr val="00D4FF"/>
                </a:solidFill>
                <a:latin typeface="Calibri"/>
              </a:rPr>
              <a:t>🧬  Biological Connection</a:t>
            </a:r>
          </a:p>
        </p:txBody>
      </p:sp>
      <p:sp>
        <p:nvSpPr>
          <p:cNvPr id="15" name="TextBox 14"/>
          <p:cNvSpPr txBox="1"/>
          <p:nvPr/>
        </p:nvSpPr>
        <p:spPr>
          <a:xfrm>
            <a:off x="8458200" y="4251960"/>
            <a:ext cx="3383280" cy="2148840"/>
          </a:xfrm>
          <a:prstGeom prst="rect">
            <a:avLst/>
          </a:prstGeom>
          <a:noFill/>
        </p:spPr>
        <p:txBody>
          <a:bodyPr wrap="square">
            <a:spAutoFit/>
          </a:bodyPr>
          <a:lstStyle/>
          <a:p>
            <a:pPr algn="l">
              <a:spcAft>
                <a:spcPts val="200"/>
              </a:spcAft>
            </a:pPr>
            <a:r>
              <a:rPr sz="1200" b="1" i="0">
                <a:solidFill>
                  <a:srgbClr val="FFFFFF"/>
                </a:solidFill>
                <a:latin typeface="Calibri"/>
              </a:rPr>
              <a:t>Shadow obstacle  ↔  Tumor blocking laser in photodynamic therapy</a:t>
            </a:r>
          </a:p>
          <a:p>
            <a:pPr algn="l">
              <a:spcAft>
                <a:spcPts val="200"/>
              </a:spcAft>
            </a:pPr>
            <a:r>
              <a:rPr sz="500" b="0" i="0">
                <a:solidFill>
                  <a:srgbClr val="FFFFFF"/>
                </a:solidFill>
                <a:latin typeface="Calibri"/>
              </a:rPr>
              <a:t/>
            </a:r>
          </a:p>
          <a:p>
            <a:pPr algn="l">
              <a:spcAft>
                <a:spcPts val="200"/>
              </a:spcAft>
            </a:pPr>
            <a:r>
              <a:rPr sz="1200" b="0" i="0">
                <a:solidFill>
                  <a:srgbClr val="C8C8D8"/>
                </a:solidFill>
                <a:latin typeface="Calibri"/>
              </a:rPr>
              <a:t>Janus particle   ↔  Drug-loaded nanocarrier with gold cap</a:t>
            </a:r>
          </a:p>
          <a:p>
            <a:pPr algn="l">
              <a:spcAft>
                <a:spcPts val="200"/>
              </a:spcAft>
            </a:pPr>
            <a:r>
              <a:rPr sz="1200" b="0" i="0">
                <a:solidFill>
                  <a:srgbClr val="C8C8D8"/>
                </a:solidFill>
                <a:latin typeface="Calibri"/>
              </a:rPr>
              <a:t>Alignment (J)    ↔  E. coli quorum-sensing coordination</a:t>
            </a:r>
          </a:p>
          <a:p>
            <a:pPr algn="l">
              <a:spcAft>
                <a:spcPts val="200"/>
              </a:spcAft>
            </a:pPr>
            <a:r>
              <a:rPr sz="1200" b="0" i="0">
                <a:solidFill>
                  <a:srgbClr val="C8C8D8"/>
                </a:solidFill>
                <a:latin typeface="Calibri"/>
              </a:rPr>
              <a:t>Shadow zone      ↔  Hypoxic tumour core (low-light region)</a:t>
            </a:r>
          </a:p>
          <a:p>
            <a:pPr algn="l">
              <a:spcAft>
                <a:spcPts val="200"/>
              </a:spcAft>
            </a:pPr>
            <a:r>
              <a:rPr sz="500" b="0" i="0">
                <a:solidFill>
                  <a:srgbClr val="FFFFFF"/>
                </a:solidFill>
                <a:latin typeface="Calibri"/>
              </a:rPr>
              <a:t/>
            </a:r>
          </a:p>
          <a:p>
            <a:pPr algn="l">
              <a:spcAft>
                <a:spcPts val="200"/>
              </a:spcAft>
            </a:pPr>
            <a:r>
              <a:rPr sz="1300" b="1" i="0">
                <a:solidFill>
                  <a:srgbClr val="FFD700"/>
                </a:solidFill>
                <a:latin typeface="Calibri"/>
              </a:rPr>
              <a:t>🔬  Prediction:</a:t>
            </a:r>
          </a:p>
          <a:p>
            <a:pPr algn="l">
              <a:spcAft>
                <a:spcPts val="200"/>
              </a:spcAft>
            </a:pPr>
            <a:r>
              <a:rPr sz="1200" b="0" i="1">
                <a:solidFill>
                  <a:srgbClr val="FFFFFF"/>
                </a:solidFill>
                <a:latin typeface="Calibri"/>
              </a:rPr>
              <a:t>A swarm of magnetic Janus particles can collectively navigate around a tumour shadow zone to deliver drug payload — impossible for isolated particles.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912"/>
        </a:solidFill>
        <a:effectLst/>
      </p:bgPr>
    </p:bg>
    <p:spTree>
      <p:nvGrpSpPr>
        <p:cNvPr id="1" name=""/>
        <p:cNvGrpSpPr/>
        <p:nvPr/>
      </p:nvGrpSpPr>
      <p:grpSpPr/>
      <p:sp>
        <p:nvSpPr>
          <p:cNvPr id="2" name="TextBox 1"/>
          <p:cNvSpPr txBox="1"/>
          <p:nvPr/>
        </p:nvSpPr>
        <p:spPr>
          <a:xfrm>
            <a:off x="11094415" y="6492240"/>
            <a:ext cx="914400" cy="274320"/>
          </a:xfrm>
          <a:prstGeom prst="rect">
            <a:avLst/>
          </a:prstGeom>
          <a:noFill/>
        </p:spPr>
        <p:txBody>
          <a:bodyPr wrap="square">
            <a:spAutoFit/>
          </a:bodyPr>
          <a:lstStyle/>
          <a:p>
            <a:pPr algn="r"/>
            <a:r>
              <a:rPr sz="1100" b="0" i="0">
                <a:solidFill>
                  <a:srgbClr val="C8C8D8"/>
                </a:solidFill>
                <a:latin typeface="Calibri"/>
              </a:rPr>
              <a:t>5 / 5</a:t>
            </a:r>
          </a:p>
        </p:txBody>
      </p:sp>
      <p:sp>
        <p:nvSpPr>
          <p:cNvPr id="3" name="Rectangle 2"/>
          <p:cNvSpPr/>
          <p:nvPr/>
        </p:nvSpPr>
        <p:spPr>
          <a:xfrm>
            <a:off x="0" y="0"/>
            <a:ext cx="164592" cy="6858000"/>
          </a:xfrm>
          <a:prstGeom prst="rect">
            <a:avLst/>
          </a:prstGeom>
          <a:solidFill>
            <a:srgbClr val="A04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8229600" cy="594360"/>
          </a:xfrm>
          <a:prstGeom prst="rect">
            <a:avLst/>
          </a:prstGeom>
          <a:noFill/>
        </p:spPr>
        <p:txBody>
          <a:bodyPr wrap="square">
            <a:spAutoFit/>
          </a:bodyPr>
          <a:lstStyle/>
          <a:p>
            <a:pPr algn="l"/>
            <a:r>
              <a:rPr sz="3000" b="1" i="0">
                <a:solidFill>
                  <a:srgbClr val="FFFFFF"/>
                </a:solidFill>
                <a:latin typeface="Calibri"/>
              </a:rPr>
              <a:t>LLM PROFICIENCY</a:t>
            </a:r>
          </a:p>
        </p:txBody>
      </p:sp>
      <p:sp>
        <p:nvSpPr>
          <p:cNvPr id="5" name="TextBox 4"/>
          <p:cNvSpPr txBox="1"/>
          <p:nvPr/>
        </p:nvSpPr>
        <p:spPr>
          <a:xfrm>
            <a:off x="365760" y="822960"/>
            <a:ext cx="10058400" cy="365760"/>
          </a:xfrm>
          <a:prstGeom prst="rect">
            <a:avLst/>
          </a:prstGeom>
          <a:noFill/>
        </p:spPr>
        <p:txBody>
          <a:bodyPr wrap="square">
            <a:spAutoFit/>
          </a:bodyPr>
          <a:lstStyle/>
          <a:p>
            <a:pPr algn="l"/>
            <a:r>
              <a:rPr sz="1600" b="0" i="1">
                <a:solidFill>
                  <a:srgbClr val="A04EFF"/>
                </a:solidFill>
                <a:latin typeface="Calibri"/>
              </a:rPr>
              <a:t>The 1-2 creative prompts that surprised us &amp; made the biggest difference</a:t>
            </a:r>
          </a:p>
        </p:txBody>
      </p:sp>
      <p:sp>
        <p:nvSpPr>
          <p:cNvPr id="6" name="Rectangle 5"/>
          <p:cNvSpPr/>
          <p:nvPr/>
        </p:nvSpPr>
        <p:spPr>
          <a:xfrm>
            <a:off x="365760" y="1261872"/>
            <a:ext cx="11430000" cy="38100"/>
          </a:xfrm>
          <a:prstGeom prst="rect">
            <a:avLst/>
          </a:prstGeom>
          <a:solidFill>
            <a:srgbClr val="A04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0040" y="1417320"/>
            <a:ext cx="5623560" cy="3794760"/>
          </a:xfrm>
          <a:prstGeom prst="roundRect">
            <a:avLst/>
          </a:prstGeom>
          <a:solidFill>
            <a:srgbClr val="16162A"/>
          </a:solidFill>
          <a:ln w="31750">
            <a:solidFill>
              <a:srgbClr val="A04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527048"/>
            <a:ext cx="5303520" cy="457200"/>
          </a:xfrm>
          <a:prstGeom prst="rect">
            <a:avLst/>
          </a:prstGeom>
          <a:noFill/>
        </p:spPr>
        <p:txBody>
          <a:bodyPr wrap="square">
            <a:spAutoFit/>
          </a:bodyPr>
          <a:lstStyle/>
          <a:p>
            <a:pPr algn="l"/>
            <a:r>
              <a:rPr sz="1600" b="1" i="0">
                <a:solidFill>
                  <a:srgbClr val="A04EFF"/>
                </a:solidFill>
                <a:latin typeface="Calibri"/>
              </a:rPr>
              <a:t>✨  PROMPT 1 — Physics-Grounded Code Critic</a:t>
            </a:r>
          </a:p>
        </p:txBody>
      </p:sp>
      <p:sp>
        <p:nvSpPr>
          <p:cNvPr id="9" name="Rectangle 8"/>
          <p:cNvSpPr/>
          <p:nvPr/>
        </p:nvSpPr>
        <p:spPr>
          <a:xfrm>
            <a:off x="502920" y="2011680"/>
            <a:ext cx="5303520" cy="25400"/>
          </a:xfrm>
          <a:prstGeom prst="rect">
            <a:avLst/>
          </a:prstGeom>
          <a:solidFill>
            <a:srgbClr val="A04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084831"/>
            <a:ext cx="5303520" cy="1554480"/>
          </a:xfrm>
          <a:prstGeom prst="rect">
            <a:avLst/>
          </a:prstGeom>
          <a:noFill/>
        </p:spPr>
        <p:txBody>
          <a:bodyPr wrap="square">
            <a:spAutoFit/>
          </a:bodyPr>
          <a:lstStyle/>
          <a:p>
            <a:pPr algn="l"/>
            <a:r>
              <a:rPr sz="1200" b="0" i="1">
                <a:solidFill>
                  <a:srgbClr val="FFFFFF"/>
                </a:solidFill>
                <a:latin typeface="Calibri"/>
              </a:rPr>
              <a:t>"You are an expert active-matter physicist. Here is my Janus swarm simulation code. For EVERY equation I use, tell me: (1) Is it physically justified or phenomenological? (2) What exact term from the Langevin equation does it represent? (3) What experiment would break this assumption? Then rewrite the orientation update with the corrected Nosenko 2020 photophoretic force F_ph = nrp²kBn₀T₀[α₁(T₁/T₀−1) − α₂(T₂/T₀−1)] mapped to our v_max scaling."</a:t>
            </a:r>
          </a:p>
        </p:txBody>
      </p:sp>
      <p:sp>
        <p:nvSpPr>
          <p:cNvPr id="11" name="TextBox 10"/>
          <p:cNvSpPr txBox="1"/>
          <p:nvPr/>
        </p:nvSpPr>
        <p:spPr>
          <a:xfrm>
            <a:off x="502920" y="3703320"/>
            <a:ext cx="5303520" cy="320040"/>
          </a:xfrm>
          <a:prstGeom prst="rect">
            <a:avLst/>
          </a:prstGeom>
          <a:noFill/>
        </p:spPr>
        <p:txBody>
          <a:bodyPr wrap="square">
            <a:spAutoFit/>
          </a:bodyPr>
          <a:lstStyle/>
          <a:p>
            <a:pPr algn="l"/>
            <a:r>
              <a:rPr sz="1300" b="1" i="0">
                <a:solidFill>
                  <a:srgbClr val="FFD700"/>
                </a:solidFill>
                <a:latin typeface="Calibri"/>
              </a:rPr>
              <a:t>💡  Why it was a game-changer:</a:t>
            </a:r>
          </a:p>
        </p:txBody>
      </p:sp>
      <p:sp>
        <p:nvSpPr>
          <p:cNvPr id="12" name="TextBox 11"/>
          <p:cNvSpPr txBox="1"/>
          <p:nvPr/>
        </p:nvSpPr>
        <p:spPr>
          <a:xfrm>
            <a:off x="502920" y="4041648"/>
            <a:ext cx="5303520" cy="1051560"/>
          </a:xfrm>
          <a:prstGeom prst="rect">
            <a:avLst/>
          </a:prstGeom>
          <a:noFill/>
        </p:spPr>
        <p:txBody>
          <a:bodyPr wrap="square">
            <a:spAutoFit/>
          </a:bodyPr>
          <a:lstStyle/>
          <a:p>
            <a:pPr algn="l">
              <a:spcAft>
                <a:spcPts val="200"/>
              </a:spcAft>
            </a:pPr>
            <a:r>
              <a:rPr sz="1200" b="0" i="0">
                <a:solidFill>
                  <a:srgbClr val="C8C8D8"/>
                </a:solidFill>
                <a:latin typeface="Calibri"/>
              </a:rPr>
              <a:t>→  LLM identified 3 unjustified simplifications in 30 seconds</a:t>
            </a:r>
          </a:p>
          <a:p>
            <a:pPr algn="l">
              <a:spcAft>
                <a:spcPts val="200"/>
              </a:spcAft>
            </a:pPr>
            <a:r>
              <a:rPr sz="1200" b="0" i="0">
                <a:solidFill>
                  <a:srgbClr val="C8C8D8"/>
                </a:solidFill>
                <a:latin typeface="Calibri"/>
              </a:rPr>
              <a:t>→  Replaced phenomenological v₀ with paper-exact photophoretic formula</a:t>
            </a:r>
          </a:p>
          <a:p>
            <a:pPr algn="l">
              <a:spcAft>
                <a:spcPts val="200"/>
              </a:spcAft>
            </a:pPr>
            <a:r>
              <a:rPr sz="1200" b="0" i="0">
                <a:solidFill>
                  <a:srgbClr val="FF6B6B"/>
                </a:solidFill>
                <a:latin typeface="Calibri"/>
              </a:rPr>
              <a:t>→  Caught a divide-by-zero at r_ij→0 before it crashed Colab</a:t>
            </a:r>
          </a:p>
          <a:p>
            <a:pPr algn="l">
              <a:spcAft>
                <a:spcPts val="200"/>
              </a:spcAft>
            </a:pPr>
            <a:r>
              <a:rPr sz="1200" b="0" i="0">
                <a:solidFill>
                  <a:srgbClr val="C8C8D8"/>
                </a:solidFill>
                <a:latin typeface="Calibri"/>
              </a:rPr>
              <a:t>→  Instantly mapped paper symbols (F_ph, n₀, α₁) to our NumPy vars</a:t>
            </a:r>
          </a:p>
        </p:txBody>
      </p:sp>
      <p:sp>
        <p:nvSpPr>
          <p:cNvPr id="13" name="Rounded Rectangle 12"/>
          <p:cNvSpPr/>
          <p:nvPr/>
        </p:nvSpPr>
        <p:spPr>
          <a:xfrm>
            <a:off x="6217920" y="1417320"/>
            <a:ext cx="5623560" cy="3794760"/>
          </a:xfrm>
          <a:prstGeom prst="roundRect">
            <a:avLst/>
          </a:prstGeom>
          <a:solidFill>
            <a:srgbClr val="16162A"/>
          </a:solidFill>
          <a:ln w="317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527048"/>
            <a:ext cx="5303520" cy="457200"/>
          </a:xfrm>
          <a:prstGeom prst="rect">
            <a:avLst/>
          </a:prstGeom>
          <a:noFill/>
        </p:spPr>
        <p:txBody>
          <a:bodyPr wrap="square">
            <a:spAutoFit/>
          </a:bodyPr>
          <a:lstStyle/>
          <a:p>
            <a:pPr algn="l"/>
            <a:r>
              <a:rPr sz="1600" b="1" i="0">
                <a:solidFill>
                  <a:srgbClr val="00D4FF"/>
                </a:solidFill>
                <a:latin typeface="Calibri"/>
              </a:rPr>
              <a:t>🚀  PROMPT 2 — Emergent Behavior Imagineer</a:t>
            </a:r>
          </a:p>
        </p:txBody>
      </p:sp>
      <p:sp>
        <p:nvSpPr>
          <p:cNvPr id="15" name="Rectangle 14"/>
          <p:cNvSpPr/>
          <p:nvPr/>
        </p:nvSpPr>
        <p:spPr>
          <a:xfrm>
            <a:off x="6400800" y="2011680"/>
            <a:ext cx="5303520" cy="254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084831"/>
            <a:ext cx="5303520" cy="1554480"/>
          </a:xfrm>
          <a:prstGeom prst="rect">
            <a:avLst/>
          </a:prstGeom>
          <a:noFill/>
        </p:spPr>
        <p:txBody>
          <a:bodyPr wrap="square">
            <a:spAutoFit/>
          </a:bodyPr>
          <a:lstStyle/>
          <a:p>
            <a:pPr algn="l"/>
            <a:r>
              <a:rPr sz="1200" b="0" i="1">
                <a:solidFill>
                  <a:srgbClr val="FFFFFF"/>
                </a:solidFill>
                <a:latin typeface="Calibri"/>
              </a:rPr>
              <a:t>"I have a swarm of 300 Janus particles with alignment strength J and noise η. I want you to: (1) Predict what NEW emergent state would appear if I added a rotating magnetic field Ω_B &gt; η²/J. (2) Write the exact NumPy line to add this to janus_step(). (3) Tell me what order parameter would best detect this new phase. (4) Design a 2-parameter phase diagram (η vs Ω_B) and describe what the 4 quadrants would look like physically."</a:t>
            </a:r>
          </a:p>
        </p:txBody>
      </p:sp>
      <p:sp>
        <p:nvSpPr>
          <p:cNvPr id="17" name="TextBox 16"/>
          <p:cNvSpPr txBox="1"/>
          <p:nvPr/>
        </p:nvSpPr>
        <p:spPr>
          <a:xfrm>
            <a:off x="6400800" y="3703320"/>
            <a:ext cx="5303520" cy="320040"/>
          </a:xfrm>
          <a:prstGeom prst="rect">
            <a:avLst/>
          </a:prstGeom>
          <a:noFill/>
        </p:spPr>
        <p:txBody>
          <a:bodyPr wrap="square">
            <a:spAutoFit/>
          </a:bodyPr>
          <a:lstStyle/>
          <a:p>
            <a:pPr algn="l"/>
            <a:r>
              <a:rPr sz="1300" b="1" i="0">
                <a:solidFill>
                  <a:srgbClr val="FFD700"/>
                </a:solidFill>
                <a:latin typeface="Calibri"/>
              </a:rPr>
              <a:t>💡  Why it was a game-changer:</a:t>
            </a:r>
          </a:p>
        </p:txBody>
      </p:sp>
      <p:sp>
        <p:nvSpPr>
          <p:cNvPr id="18" name="TextBox 17"/>
          <p:cNvSpPr txBox="1"/>
          <p:nvPr/>
        </p:nvSpPr>
        <p:spPr>
          <a:xfrm>
            <a:off x="6400800" y="4041648"/>
            <a:ext cx="5303520" cy="1051560"/>
          </a:xfrm>
          <a:prstGeom prst="rect">
            <a:avLst/>
          </a:prstGeom>
          <a:noFill/>
        </p:spPr>
        <p:txBody>
          <a:bodyPr wrap="square">
            <a:spAutoFit/>
          </a:bodyPr>
          <a:lstStyle/>
          <a:p>
            <a:pPr algn="l">
              <a:spcAft>
                <a:spcPts val="200"/>
              </a:spcAft>
            </a:pPr>
            <a:r>
              <a:rPr sz="1200" b="0" i="0">
                <a:solidFill>
                  <a:srgbClr val="C8C8D8"/>
                </a:solidFill>
                <a:latin typeface="Calibri"/>
              </a:rPr>
              <a:t>→  LLM predicted a 'synchronised tornado' phase we hadn't imagined</a:t>
            </a:r>
          </a:p>
          <a:p>
            <a:pPr algn="l">
              <a:spcAft>
                <a:spcPts val="200"/>
              </a:spcAft>
            </a:pPr>
            <a:r>
              <a:rPr sz="1200" b="0" i="0">
                <a:solidFill>
                  <a:srgbClr val="C8C8D8"/>
                </a:solidFill>
                <a:latin typeface="Calibri"/>
              </a:rPr>
              <a:t>→  Generated the κ_B update line + new order parameter in one shot</a:t>
            </a:r>
          </a:p>
          <a:p>
            <a:pPr algn="l">
              <a:spcAft>
                <a:spcPts val="200"/>
              </a:spcAft>
            </a:pPr>
            <a:r>
              <a:rPr sz="1200" b="0" i="0">
                <a:solidFill>
                  <a:srgbClr val="A04EFF"/>
                </a:solidFill>
                <a:latin typeface="Calibri"/>
              </a:rPr>
              <a:t>→  Designed the (η, Ω_B) phase diagram before we ran a single sim</a:t>
            </a:r>
          </a:p>
          <a:p>
            <a:pPr algn="l">
              <a:spcAft>
                <a:spcPts val="200"/>
              </a:spcAft>
            </a:pPr>
            <a:r>
              <a:rPr sz="1200" b="0" i="0">
                <a:solidFill>
                  <a:srgbClr val="C8C8D8"/>
                </a:solidFill>
                <a:latin typeface="Calibri"/>
              </a:rPr>
              <a:t>→  Suggested helical MSD as the detecting metric — we verified it</a:t>
            </a:r>
          </a:p>
        </p:txBody>
      </p:sp>
      <p:sp>
        <p:nvSpPr>
          <p:cNvPr id="19" name="Rounded Rectangle 18"/>
          <p:cNvSpPr/>
          <p:nvPr/>
        </p:nvSpPr>
        <p:spPr>
          <a:xfrm>
            <a:off x="320040" y="5349240"/>
            <a:ext cx="11521440" cy="1234440"/>
          </a:xfrm>
          <a:prstGeom prst="roundRect">
            <a:avLst/>
          </a:prstGeom>
          <a:solidFill>
            <a:srgbClr val="1A1A35"/>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440680"/>
            <a:ext cx="1828800" cy="365760"/>
          </a:xfrm>
          <a:prstGeom prst="rect">
            <a:avLst/>
          </a:prstGeom>
          <a:noFill/>
        </p:spPr>
        <p:txBody>
          <a:bodyPr wrap="square">
            <a:spAutoFit/>
          </a:bodyPr>
          <a:lstStyle/>
          <a:p>
            <a:pPr algn="l"/>
            <a:r>
              <a:rPr sz="1400" b="1" i="0">
                <a:solidFill>
                  <a:srgbClr val="FFD700"/>
                </a:solidFill>
                <a:latin typeface="Calibri"/>
              </a:rPr>
              <a:t>🏆  Takeaway</a:t>
            </a:r>
          </a:p>
        </p:txBody>
      </p:sp>
      <p:sp>
        <p:nvSpPr>
          <p:cNvPr id="21" name="TextBox 20"/>
          <p:cNvSpPr txBox="1"/>
          <p:nvPr/>
        </p:nvSpPr>
        <p:spPr>
          <a:xfrm>
            <a:off x="2514600" y="5458968"/>
            <a:ext cx="9144000" cy="1005840"/>
          </a:xfrm>
          <a:prstGeom prst="rect">
            <a:avLst/>
          </a:prstGeom>
          <a:noFill/>
        </p:spPr>
        <p:txBody>
          <a:bodyPr wrap="square">
            <a:spAutoFit/>
          </a:bodyPr>
          <a:lstStyle/>
          <a:p>
            <a:pPr algn="l"/>
            <a:r>
              <a:rPr sz="1200" b="0" i="0">
                <a:solidFill>
                  <a:srgbClr val="FFFFFF"/>
                </a:solidFill>
                <a:latin typeface="Calibri"/>
              </a:rPr>
              <a:t>The LLM was most powerful as a physics peer-reviewer + imagineer: it didn't just write code — it challenged every equation, caught numerical bugs before they ran, and invented experimental predictions we then verified in simulation. The key was giving it the full MASTER_CONTEXT.md so it had physical grounding, not just syntax.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