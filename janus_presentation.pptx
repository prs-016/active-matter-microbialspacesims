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6BD"/>
                </a:solidFill>
                <a:latin typeface="Trebuchet MS"/>
              </a:rPr>
              <a:t>PHM MISSION LOG: SLIDE 1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PROJECT HAIL MARY: THE ASTROPHAGE 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E6BD"/>
                </a:solidFill>
                <a:latin typeface="Trebuchet MS"/>
              </a:rPr>
              <a:t>Emergent Light-Driven Swarms &amp; Collective Phototaxis in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D00"/>
                </a:solidFill>
                <a:latin typeface="Trebuchet MS"/>
              </a:rPr>
              <a:t>Demo at https://prs-016.github.io/active-matter-microbialspacesims/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11430000" cy="254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444752"/>
            <a:ext cx="5486400" cy="507492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6192"/>
            <a:ext cx="5303520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444752"/>
            <a:ext cx="5852160" cy="507492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0E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72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6BD"/>
                </a:solidFill>
                <a:latin typeface="Trebuchet MS"/>
              </a:rPr>
              <a:t>🛰️  Mission Observations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486400" cy="19050"/>
          </a:xfrm>
          <a:prstGeom prst="rect">
            <a:avLst/>
          </a:prstGeom>
          <a:solidFill>
            <a:srgbClr val="00E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84831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🔆  Sun-Powered Thrust (Photophoresis)</a:t>
            </a:r>
          </a:p>
          <a:p>
            <a:pPr algn="l">
              <a:spcAft>
                <a:spcPts val="15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Cap-specific radiation absorption creates temperature differences, driving thrust.</a:t>
            </a:r>
          </a:p>
          <a:p>
            <a:pPr algn="l">
              <a:spcAft>
                <a:spcPts val="150"/>
              </a:spcAft>
            </a:pPr>
            <a:r>
              <a:rPr sz="6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🌀  Astrophage Collective Flocking</a:t>
            </a:r>
          </a:p>
          <a:p>
            <a:pPr algn="l">
              <a:spcAft>
                <a:spcPts val="15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Thermoosmotic interactions couple neighbors, triggering spontaneous group alignment.</a:t>
            </a:r>
          </a:p>
          <a:p>
            <a:pPr algn="l">
              <a:spcAft>
                <a:spcPts val="150"/>
              </a:spcAft>
            </a:pPr>
            <a:r>
              <a:rPr sz="6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🎯  Solar Corona Targeting</a:t>
            </a:r>
          </a:p>
          <a:p>
            <a:pPr algn="l">
              <a:spcAft>
                <a:spcPts val="15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Individual phototactic steering guides the swarm directly to high-intensity targets.</a:t>
            </a:r>
          </a:p>
          <a:p>
            <a:pPr algn="l">
              <a:spcAft>
                <a:spcPts val="150"/>
              </a:spcAft>
            </a:pPr>
            <a:r>
              <a:rPr sz="6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🌊  Chiral Symmetry Breaking (Circle Swimmers)</a:t>
            </a:r>
          </a:p>
          <a:p>
            <a:pPr algn="l">
              <a:spcAft>
                <a:spcPts val="15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Asymmetric particle caps yield internal torque, converting straight paths into orbits.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6BD"/>
                </a:solidFill>
                <a:latin typeface="Trebuchet MS"/>
              </a:rPr>
              <a:t>PHM MISSION LOG: SLIDE 2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ASTROPHAGE MATH: THE 3D/2D LANGEVIN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E6BD"/>
                </a:solidFill>
                <a:latin typeface="Trebuchet MS"/>
              </a:rPr>
              <a:t>Coupled active-matter equations governing phototactic swarm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43584"/>
            <a:ext cx="11430000" cy="25400"/>
          </a:xfrm>
          <a:prstGeom prst="rect">
            <a:avLst/>
          </a:prstGeom>
          <a:solidFill>
            <a:srgbClr val="00E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6126480" cy="51663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0E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760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"/>
              </a:spcAft>
            </a:pPr>
            <a:r>
              <a:rPr sz="1400" b="1" i="0">
                <a:solidFill>
                  <a:srgbClr val="00E6BD"/>
                </a:solidFill>
                <a:latin typeface="Trebuchet MS"/>
              </a:rPr>
              <a:t>📐  Model Coordinates</a:t>
            </a:r>
          </a:p>
          <a:p>
            <a:pPr algn="l">
              <a:spcAft>
                <a:spcPts val="120"/>
              </a:spcAft>
            </a:pPr>
            <a:r>
              <a:rPr sz="1200" b="0" i="0">
                <a:solidFill>
                  <a:srgbClr val="BCC4D0"/>
                </a:solidFill>
                <a:latin typeface="Trebuchet MS"/>
              </a:rPr>
              <a:t>    N active particles inside a periodic box L×L.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FFFF"/>
                </a:solidFill>
                <a:latin typeface="Trebuchet MS"/>
              </a:rPr>
              <a:t>    State: Position rᵢ = (xᵢ, yᵢ)   |   Heading vector e_θi = (cos θᵢ, sin θᵢ)</a:t>
            </a:r>
          </a:p>
          <a:p>
            <a:pPr algn="l">
              <a:spcAft>
                <a:spcPts val="120"/>
              </a:spcAft>
            </a:pPr>
            <a:r>
              <a:rPr sz="5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20"/>
              </a:spcAft>
            </a:pPr>
            <a:r>
              <a:rPr sz="1400" b="1" i="0">
                <a:solidFill>
                  <a:srgbClr val="FF9D00"/>
                </a:solidFill>
                <a:latin typeface="Trebuchet MS"/>
              </a:rPr>
              <a:t>🔄  Swarm Orientation Langevin Dynamics</a:t>
            </a:r>
          </a:p>
          <a:p>
            <a:pPr algn="l">
              <a:spcAft>
                <a:spcPts val="120"/>
              </a:spcAft>
            </a:pPr>
            <a:r>
              <a:rPr sz="1200" b="0" i="0">
                <a:solidFill>
                  <a:srgbClr val="BCC4D0"/>
                </a:solidFill>
                <a:latin typeface="Trebuchet MS"/>
              </a:rPr>
              <a:t>    θᵢ(t+dt) = θᵢ(t)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9D00"/>
                </a:solidFill>
                <a:latin typeface="Trebuchet MS"/>
              </a:rPr>
              <a:t>         + J · sin(φ_align − θᵢ) · dt       [Vicsek Alignment]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00E6BD"/>
                </a:solidFill>
                <a:latin typeface="Trebuchet MS"/>
              </a:rPr>
              <a:t>         + α · sin(φ_target − θᵢ) · dt      [Solar Phototaxis]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4B4B"/>
                </a:solidFill>
                <a:latin typeface="Trebuchet MS"/>
              </a:rPr>
              <a:t>         + κ_B · sin(θ_B − θᵢ) · dt         [Magnetic Gradients]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     + η · ξᵢ · √dt                     [Rotational Noise (Dr)]</a:t>
            </a:r>
          </a:p>
          <a:p>
            <a:pPr algn="l">
              <a:spcAft>
                <a:spcPts val="120"/>
              </a:spcAft>
            </a:pPr>
            <a:r>
              <a:rPr sz="5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20"/>
              </a:spcAft>
            </a:pPr>
            <a:r>
              <a:rPr sz="1400" b="1" i="0">
                <a:solidFill>
                  <a:srgbClr val="FF9D00"/>
                </a:solidFill>
                <a:latin typeface="Trebuchet MS"/>
              </a:rPr>
              <a:t>⚡  Self-Propelling Update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FFFF"/>
                </a:solidFill>
                <a:latin typeface="Trebuchet MS"/>
              </a:rPr>
              <a:t>    rᵢ(t+dt) = rᵢ(t) + v₀(i) · e_θi · dt</a:t>
            </a:r>
          </a:p>
          <a:p>
            <a:pPr algn="l">
              <a:spcAft>
                <a:spcPts val="120"/>
              </a:spcAft>
            </a:pPr>
            <a:r>
              <a:rPr sz="5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20"/>
              </a:spcAft>
            </a:pPr>
            <a:r>
              <a:rPr sz="1400" b="1" i="0">
                <a:solidFill>
                  <a:srgbClr val="FF9D00"/>
                </a:solidFill>
                <a:latin typeface="Trebuchet MS"/>
              </a:rPr>
              <a:t>🔆  Local Radiation Speed Modulation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FFFF"/>
                </a:solidFill>
                <a:latin typeface="Trebuchet MS"/>
              </a:rPr>
              <a:t>    v₀(i) = v_max · min(1,  I_local(i) / I_ref )</a:t>
            </a:r>
          </a:p>
          <a:p>
            <a:pPr algn="l">
              <a:spcAft>
                <a:spcPts val="120"/>
              </a:spcAft>
            </a:pPr>
            <a:r>
              <a:rPr sz="1100" b="0" i="1">
                <a:solidFill>
                  <a:srgbClr val="BCC4D0"/>
                </a:solidFill>
                <a:latin typeface="Trebuchet MS"/>
              </a:rPr>
              <a:t>    I_local(i) = I_ext(rᵢ) + Σⱼ I_emit · e^(−r²ᵢⱼ/σ²) · max(0, e_θj·e_ji)</a:t>
            </a:r>
          </a:p>
          <a:p>
            <a:pPr algn="l">
              <a:spcAft>
                <a:spcPts val="120"/>
              </a:spcAft>
            </a:pPr>
            <a:r>
              <a:rPr sz="5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20"/>
              </a:spcAft>
            </a:pPr>
            <a:r>
              <a:rPr sz="1400" b="1" i="0">
                <a:solidFill>
                  <a:srgbClr val="00E6BD"/>
                </a:solidFill>
                <a:latin typeface="Trebuchet MS"/>
              </a:rPr>
              <a:t>📊  Emergent Flow Order Parameter</a:t>
            </a:r>
          </a:p>
          <a:p>
            <a:pPr algn="l">
              <a:spcAft>
                <a:spcPts val="120"/>
              </a:spcAft>
            </a:pPr>
            <a:r>
              <a:rPr sz="1200" b="0" i="1">
                <a:solidFill>
                  <a:srgbClr val="FFFFFF"/>
                </a:solidFill>
                <a:latin typeface="Trebuchet MS"/>
              </a:rPr>
              <a:t>    Φ_transport = ⟨ cos(θᵢ − φ_target,i) ⟩ ∈ [−1, 1]  (efficiency of delivery)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5303520" cy="51663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irality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81328"/>
            <a:ext cx="512064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669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CC4D0"/>
                </a:solidFill>
                <a:latin typeface="Trebuchet MS"/>
              </a:rPr>
              <a:t>Chiral swimmer asymmetry breaks straight runs: ω=0 (left) vs ω&gt;0 (right) forming stable orbits.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6BD"/>
                </a:solidFill>
                <a:latin typeface="Trebuchet MS"/>
              </a:rPr>
              <a:t>PHM MISSION LOG: SLIDE 3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CREATIVE SWEEP: THE ASTROPHAGE PHASE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9D00"/>
                </a:solidFill>
                <a:latin typeface="Trebuchet MS"/>
              </a:rPr>
              <a:t>Phase space sweeps, boundary modifications, and new state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43584"/>
            <a:ext cx="11430000" cy="254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6492240" cy="51663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63093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893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CC4D0"/>
                </a:solidFill>
                <a:latin typeface="Trebuchet MS"/>
              </a:rPr>
              <a:t>Phase Diagram: Transport efficiency (left) and target occupancy (right) vs noise η and coupling 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371600"/>
            <a:ext cx="4892040" cy="24231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D00"/>
                </a:solidFill>
                <a:latin typeface="Trebuchet MS"/>
              </a:rPr>
              <a:t>📊  Phase Transition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7451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🟡  Low Noise + Strong J  →  COHERENT FLOCKING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Φ_transport → 1.0: Swarm flows efficiently to solar sinks.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🔵  High Noise + Weak J  →  DISORDERED GAS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BCC4D0"/>
                </a:solidFill>
                <a:latin typeface="Trebuchet MS"/>
              </a:rPr>
              <a:t>    Φ_transport → 0.0: Individual particles brownian-wander.</a:t>
            </a:r>
          </a:p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00E6BD"/>
                </a:solidFill>
                <a:latin typeface="Trebuchet MS"/>
              </a:rPr>
              <a:t>📈  Critical Boundary: Scaling law fits η_c ∝ √J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3931920"/>
            <a:ext cx="4892040" cy="260604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0E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BD"/>
                </a:solidFill>
                <a:latin typeface="Trebuchet MS"/>
              </a:rPr>
              <a:t>🔮  Space boundary &amp; State Hacking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38912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🔴  CHIRAL TORNADO STATE (ω ≠ 0)</a:t>
            </a:r>
          </a:p>
          <a:p>
            <a:pPr algn="l">
              <a:spcAft>
                <a:spcPts val="150"/>
              </a:spcAft>
            </a:pPr>
            <a:r>
              <a:rPr sz="1100" b="0" i="0">
                <a:solidFill>
                  <a:srgbClr val="BCC4D0"/>
                </a:solidFill>
                <a:latin typeface="Trebuchet MS"/>
              </a:rPr>
              <a:t>    Adding intrinsic spin breaks symmetry. Swarm spirals into a tight orbit around the solar core. Occupancy peaks as transfer efficiency falls.</a:t>
            </a:r>
          </a:p>
          <a:p>
            <a:pPr algn="l">
              <a:spcAft>
                <a:spcPts val="150"/>
              </a:spcAft>
            </a:pPr>
            <a:r>
              <a:rPr sz="3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🟢  NEUMANN WALL BOUNDARY ACCUMULATION</a:t>
            </a:r>
          </a:p>
          <a:p>
            <a:pPr algn="l">
              <a:spcAft>
                <a:spcPts val="150"/>
              </a:spcAft>
            </a:pPr>
            <a:r>
              <a:rPr sz="1100" b="0" i="0">
                <a:solidFill>
                  <a:srgbClr val="BCC4D0"/>
                </a:solidFill>
                <a:latin typeface="Trebuchet MS"/>
              </a:rPr>
              <a:t>    Swapping periodic for reflective boundaries forces particles to bunch at edges, creating a high-density ring ('hollow swarm' phase).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6BD"/>
                </a:solidFill>
                <a:latin typeface="Trebuchet MS"/>
              </a:rPr>
              <a:t>PHM MISSION LOG: SLIDE 4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ASTEROID SHADOW BLOCKAGE &amp; SWARM RESCUE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4B4B"/>
                </a:solidFill>
                <a:latin typeface="Trebuchet MS"/>
              </a:rPr>
              <a:t>Cooperative flocking coordinates bypass around solar eclipse zones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43584"/>
            <a:ext cx="11430000" cy="254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371600"/>
            <a:ext cx="7635240" cy="51663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bstac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7452360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172200"/>
            <a:ext cx="7452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CC4D0"/>
                </a:solidFill>
                <a:latin typeface="Trebuchet MS"/>
              </a:rPr>
              <a:t>Top: Target occupancy | Middle: Transport efficiency | Bottom: Swarm avoiding shadow blockage.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749039" cy="233172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B4B"/>
                </a:solidFill>
                <a:latin typeface="Trebuchet MS"/>
              </a:rPr>
              <a:t>🎯  Key Sweeping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Control Variable: Swarmed (J=2) vs Free (J=0)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BCC4D0"/>
                </a:solidFill>
                <a:latin typeface="Trebuchet MS"/>
              </a:rPr>
              <a:t>Measured metric: Shadow bypass rate (Φ)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9D00"/>
                </a:solidFill>
                <a:latin typeface="Trebuchet MS"/>
              </a:rPr>
              <a:t>Key Discovery: +10% delivery speed</a:t>
            </a:r>
          </a:p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BCC4D0"/>
                </a:solidFill>
                <a:latin typeface="Trebuchet MS"/>
              </a:rPr>
              <a:t>Mechanism: Neighbor-alignment acts as collective memory, dragging stalled shadow-particles back to light.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840480"/>
            <a:ext cx="3749039" cy="26974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0E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BD"/>
                </a:solidFill>
                <a:latin typeface="Trebuchet MS"/>
              </a:rPr>
              <a:t>🧬  PHM &amp; Biological Analogy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434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🌌  Astrophage Migration Path</a:t>
            </a:r>
          </a:p>
          <a:p>
            <a:pPr algn="l">
              <a:spcAft>
                <a:spcPts val="150"/>
              </a:spcAft>
            </a:pPr>
            <a:r>
              <a:rPr sz="1100" b="0" i="0">
                <a:solidFill>
                  <a:srgbClr val="BCC4D0"/>
                </a:solidFill>
                <a:latin typeface="Trebuchet MS"/>
              </a:rPr>
              <a:t>    Sun-dimming Astrophage clusters must flock past dark cosmic dust blockages to reach planetary heat targets.</a:t>
            </a:r>
          </a:p>
          <a:p>
            <a:pPr algn="l">
              <a:spcAft>
                <a:spcPts val="150"/>
              </a:spcAft>
            </a:pPr>
            <a:r>
              <a:rPr sz="200" b="0" i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>
              <a:spcAft>
                <a:spcPts val="15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🔬  Biomedical Target Delivery</a:t>
            </a:r>
          </a:p>
          <a:p>
            <a:pPr algn="l">
              <a:spcAft>
                <a:spcPts val="150"/>
              </a:spcAft>
            </a:pPr>
            <a:r>
              <a:rPr sz="1100" b="0" i="0">
                <a:solidFill>
                  <a:srgbClr val="BCC4D0"/>
                </a:solidFill>
                <a:latin typeface="Trebuchet MS"/>
              </a:rPr>
              <a:t>    Mirroring E. coli quorum-sensing, light-steered nanoparticles can collectively flow around tumor shadow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295" y="6492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E6BD"/>
                </a:solidFill>
                <a:latin typeface="Trebuchet MS"/>
              </a:rPr>
              <a:t>PHM MISSION LOG: SLIDE 5 OF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AI CO-PILOT: PROMPT ENGINEERING CRITICAL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9D00"/>
                </a:solidFill>
                <a:latin typeface="Trebuchet MS"/>
              </a:rPr>
              <a:t>Ryland Grace's Lab assistant: how highly detailed prompts unlocked state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43584"/>
            <a:ext cx="11430000" cy="2540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5623560" cy="3794760"/>
          </a:xfrm>
          <a:prstGeom prst="roundRect">
            <a:avLst/>
          </a:prstGeom>
          <a:solidFill>
            <a:srgbClr val="111726"/>
          </a:solidFill>
          <a:ln w="317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D00"/>
                </a:solidFill>
                <a:latin typeface="Trebuchet MS"/>
              </a:rPr>
              <a:t>✨  PROMPT 1 — Physics-Grounded Critic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5303520" cy="19050"/>
          </a:xfrm>
          <a:prstGeom prst="rect">
            <a:avLst/>
          </a:prstGeom>
          <a:solidFill>
            <a:srgbClr val="FF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FFFF"/>
                </a:solidFill>
                <a:latin typeface="Trebuchet MS"/>
              </a:rPr>
              <a:t>"Review my Langevin-dynamics simulation as a PhD physicist. Verify if my self-propulsion and Vicsek alignment equations are physically sound. Correct any phenomenological simplifications using exact phototactic force equations derived from radiation heat fluxes, and provide a strict boundary mapping for reflective Neumann walls."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BD"/>
                </a:solidFill>
                <a:latin typeface="Trebuchet MS"/>
              </a:rPr>
              <a:t>💡  Why it made a massive difference: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Flagged numerical drift in angular noise Euler-Maruyama step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Mapped complex heat-flux parameters directly to local array limits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Helped write vectorized local alignment loops reducing runtimes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623560" cy="3794760"/>
          </a:xfrm>
          <a:prstGeom prst="roundRect">
            <a:avLst/>
          </a:prstGeom>
          <a:solidFill>
            <a:srgbClr val="111726"/>
          </a:solidFill>
          <a:ln w="31750">
            <a:solidFill>
              <a:srgbClr val="00E6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6BD"/>
                </a:solidFill>
                <a:latin typeface="Trebuchet MS"/>
              </a:rPr>
              <a:t>🚀  PROMPT 2 — Emergent Phase Explorer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65960"/>
            <a:ext cx="5303520" cy="19050"/>
          </a:xfrm>
          <a:prstGeom prst="rect">
            <a:avLst/>
          </a:prstGeom>
          <a:solidFill>
            <a:srgbClr val="00E6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FFFFFF"/>
                </a:solidFill>
                <a:latin typeface="Trebuchet MS"/>
              </a:rPr>
              <a:t>"Analyze this active-matter system. If I add a constant turning torque resulting in chiral circle-swimming, and swap periodic boundaries for Neumann reflective walls, what novel macroscopic state will emerge? Detail the order parameters needed to map the transition in a new phase space sweep."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D00"/>
                </a:solidFill>
                <a:latin typeface="Trebuchet MS"/>
              </a:rPr>
              <a:t>💡  Why it made a massive difference: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Correctly predicted 'chiral orbital locking' around obstacles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Suggested polar order vs vorticity metrics to trace transitions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BCC4D0"/>
                </a:solidFill>
                <a:latin typeface="Trebuchet MS"/>
              </a:rPr>
              <a:t>→  Designed a multi-dimensional phase diagram we then implemented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349240"/>
            <a:ext cx="11521440" cy="1234440"/>
          </a:xfrm>
          <a:prstGeom prst="roundRect">
            <a:avLst/>
          </a:prstGeom>
          <a:solidFill>
            <a:srgbClr val="131F38"/>
          </a:solidFill>
          <a:ln w="19050"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D00"/>
                </a:solidFill>
                <a:latin typeface="Trebuchet MS"/>
              </a:rPr>
              <a:t>🏆  Research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458968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rebuchet MS"/>
              </a:rPr>
              <a:t>Highly context-rich prompts transformed the AI from a standard code assistant into a true theoretical collaborator. Feeding the LLM exact paper concepts enabled rapid conceptual sweeps, automatic boundary logic drafting, and rigorous phase mapping — speeding up research to hackathon velocity.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